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79" r:id="rId3"/>
    <p:sldId id="257" r:id="rId4"/>
    <p:sldId id="259" r:id="rId5"/>
    <p:sldId id="263" r:id="rId6"/>
    <p:sldId id="274" r:id="rId7"/>
    <p:sldId id="265" r:id="rId8"/>
    <p:sldId id="260" r:id="rId9"/>
    <p:sldId id="261" r:id="rId10"/>
    <p:sldId id="268" r:id="rId11"/>
    <p:sldId id="295" r:id="rId12"/>
    <p:sldId id="269" r:id="rId13"/>
    <p:sldId id="275" r:id="rId14"/>
    <p:sldId id="297" r:id="rId15"/>
    <p:sldId id="281" r:id="rId16"/>
    <p:sldId id="282" r:id="rId17"/>
    <p:sldId id="283" r:id="rId18"/>
    <p:sldId id="284" r:id="rId19"/>
    <p:sldId id="296" r:id="rId20"/>
    <p:sldId id="298" r:id="rId21"/>
    <p:sldId id="299" r:id="rId22"/>
    <p:sldId id="300" r:id="rId23"/>
    <p:sldId id="289" r:id="rId24"/>
    <p:sldId id="302" r:id="rId25"/>
    <p:sldId id="288" r:id="rId26"/>
    <p:sldId id="262" r:id="rId27"/>
    <p:sldId id="290" r:id="rId2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98791" autoAdjust="0"/>
  </p:normalViewPr>
  <p:slideViewPr>
    <p:cSldViewPr>
      <p:cViewPr>
        <p:scale>
          <a:sx n="66" d="100"/>
          <a:sy n="66" d="100"/>
        </p:scale>
        <p:origin x="936" y="126"/>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8DA6A01-906C-418C-80E9-D6CB2F4D81A4}" type="datetimeFigureOut">
              <a:rPr lang="en-IN" smtClean="0"/>
              <a:t>12-07-2026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E0F38AD-8588-4A20-A314-3EBA108CC35F}" type="slidenum">
              <a:rPr lang="en-IN" smtClean="0"/>
              <a:t>‹#›</a:t>
            </a:fld>
            <a:endParaRPr lang="en-IN"/>
          </a:p>
        </p:txBody>
      </p:sp>
    </p:spTree>
    <p:extLst>
      <p:ext uri="{BB962C8B-B14F-4D97-AF65-F5344CB8AC3E}">
        <p14:creationId xmlns:p14="http://schemas.microsoft.com/office/powerpoint/2010/main" val="410523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0F38AD-8588-4A20-A314-3EBA108CC35F}" type="slidenum">
              <a:rPr lang="en-IN" smtClean="0"/>
              <a:t>6</a:t>
            </a:fld>
            <a:endParaRPr lang="en-IN"/>
          </a:p>
        </p:txBody>
      </p:sp>
    </p:spTree>
    <p:extLst>
      <p:ext uri="{BB962C8B-B14F-4D97-AF65-F5344CB8AC3E}">
        <p14:creationId xmlns:p14="http://schemas.microsoft.com/office/powerpoint/2010/main" val="3401860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0F38AD-8588-4A20-A314-3EBA108CC35F}" type="slidenum">
              <a:rPr lang="en-IN" smtClean="0"/>
              <a:t>25</a:t>
            </a:fld>
            <a:endParaRPr lang="en-IN"/>
          </a:p>
        </p:txBody>
      </p:sp>
    </p:spTree>
    <p:extLst>
      <p:ext uri="{BB962C8B-B14F-4D97-AF65-F5344CB8AC3E}">
        <p14:creationId xmlns:p14="http://schemas.microsoft.com/office/powerpoint/2010/main" val="3395604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E0F38AD-8588-4A20-A314-3EBA108CC35F}" type="slidenum">
              <a:rPr lang="en-IN" smtClean="0"/>
              <a:t>26</a:t>
            </a:fld>
            <a:endParaRPr lang="en-IN"/>
          </a:p>
        </p:txBody>
      </p:sp>
    </p:spTree>
    <p:extLst>
      <p:ext uri="{BB962C8B-B14F-4D97-AF65-F5344CB8AC3E}">
        <p14:creationId xmlns:p14="http://schemas.microsoft.com/office/powerpoint/2010/main" val="2626819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18-</a:t>
            </a:r>
            <a:r>
              <a:rPr spc="-10" dirty="0"/>
              <a:t>Jul-</a:t>
            </a:r>
            <a:r>
              <a:rPr spc="-25" dirty="0"/>
              <a:t>25</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18-</a:t>
            </a:r>
            <a:r>
              <a:rPr spc="-10" dirty="0"/>
              <a:t>Jul-</a:t>
            </a:r>
            <a:r>
              <a:rPr spc="-25" dirty="0"/>
              <a:t>25</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18-</a:t>
            </a:r>
            <a:r>
              <a:rPr spc="-10" dirty="0"/>
              <a:t>Jul-</a:t>
            </a:r>
            <a:r>
              <a:rPr spc="-25" dirty="0"/>
              <a:t>25</a:t>
            </a:r>
          </a:p>
        </p:txBody>
      </p:sp>
      <p:sp>
        <p:nvSpPr>
          <p:cNvPr id="6" name="Holder 6"/>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18-</a:t>
            </a:r>
            <a:r>
              <a:rPr spc="-10" dirty="0"/>
              <a:t>Jul-</a:t>
            </a:r>
            <a:r>
              <a:rPr spc="-25" dirty="0"/>
              <a:t>25</a:t>
            </a:r>
          </a:p>
        </p:txBody>
      </p:sp>
      <p:sp>
        <p:nvSpPr>
          <p:cNvPr id="4" name="Holder 4"/>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20" dirty="0"/>
              <a:t>18-</a:t>
            </a:r>
            <a:r>
              <a:rPr spc="-10" dirty="0"/>
              <a:t>Jul-</a:t>
            </a:r>
            <a:r>
              <a:rPr spc="-25" dirty="0"/>
              <a:t>25</a:t>
            </a:r>
          </a:p>
        </p:txBody>
      </p:sp>
      <p:sp>
        <p:nvSpPr>
          <p:cNvPr id="3" name="Holder 3"/>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09600" y="274638"/>
            <a:ext cx="10972800" cy="868680"/>
          </a:xfrm>
          <a:prstGeom prst="rect">
            <a:avLst/>
          </a:prstGeom>
        </p:spPr>
        <p:txBody>
          <a:bodyPr wrap="square" lIns="0" tIns="0" rIns="0" bIns="0">
            <a:spAutoFit/>
          </a:bodyPr>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2625" y="6466776"/>
            <a:ext cx="590550"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spc="-20" dirty="0"/>
              <a:t>18-</a:t>
            </a:r>
            <a:r>
              <a:rPr spc="-10" dirty="0"/>
              <a:t>Jul-</a:t>
            </a:r>
            <a:r>
              <a:rPr spc="-25" dirty="0"/>
              <a:t>25</a:t>
            </a:r>
          </a:p>
        </p:txBody>
      </p:sp>
      <p:sp>
        <p:nvSpPr>
          <p:cNvPr id="5" name="Holder 5"/>
          <p:cNvSpPr>
            <a:spLocks noGrp="1"/>
          </p:cNvSpPr>
          <p:nvPr>
            <p:ph type="dt" sz="half" idx="6"/>
          </p:nvPr>
        </p:nvSpPr>
        <p:spPr>
          <a:xfrm>
            <a:off x="5062897" y="6375336"/>
            <a:ext cx="2063750" cy="360679"/>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Holder 6"/>
          <p:cNvSpPr>
            <a:spLocks noGrp="1"/>
          </p:cNvSpPr>
          <p:nvPr>
            <p:ph type="sldNum" sz="quarter" idx="7"/>
          </p:nvPr>
        </p:nvSpPr>
        <p:spPr>
          <a:xfrm>
            <a:off x="11381333" y="6466776"/>
            <a:ext cx="166370"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13205" y="2308180"/>
            <a:ext cx="9260422" cy="1120820"/>
          </a:xfrm>
          <a:prstGeom prst="rect">
            <a:avLst/>
          </a:prstGeom>
        </p:spPr>
        <p:txBody>
          <a:bodyPr vert="horz" wrap="square" lIns="0" tIns="12700" rIns="0" bIns="0" rtlCol="0">
            <a:spAutoFit/>
          </a:bodyPr>
          <a:lstStyle/>
          <a:p>
            <a:pPr marR="127635" algn="ctr">
              <a:lnSpc>
                <a:spcPct val="100000"/>
              </a:lnSpc>
              <a:spcBef>
                <a:spcPts val="1905"/>
              </a:spcBef>
            </a:pPr>
            <a:r>
              <a:rPr lang="en-US" sz="3600" b="1" dirty="0">
                <a:latin typeface="Times New Roman"/>
                <a:cs typeface="Times New Roman"/>
              </a:rPr>
              <a:t>IoT Enhanced Sign Language Glove: Bridging Speech, Touch and Gestures</a:t>
            </a:r>
          </a:p>
        </p:txBody>
      </p:sp>
      <p:sp>
        <p:nvSpPr>
          <p:cNvPr id="3" name="object 3"/>
          <p:cNvSpPr txBox="1"/>
          <p:nvPr/>
        </p:nvSpPr>
        <p:spPr>
          <a:xfrm>
            <a:off x="530225" y="4739640"/>
            <a:ext cx="1965960" cy="330200"/>
          </a:xfrm>
          <a:prstGeom prst="rect">
            <a:avLst/>
          </a:prstGeom>
        </p:spPr>
        <p:txBody>
          <a:bodyPr vert="horz" wrap="square" lIns="0" tIns="12700" rIns="0" bIns="0" rtlCol="0">
            <a:spAutoFit/>
          </a:bodyPr>
          <a:lstStyle/>
          <a:p>
            <a:pPr marL="12700">
              <a:lnSpc>
                <a:spcPct val="100000"/>
              </a:lnSpc>
              <a:spcBef>
                <a:spcPts val="100"/>
              </a:spcBef>
            </a:pPr>
            <a:endParaRPr sz="2000" dirty="0">
              <a:latin typeface="Times New Roman"/>
              <a:cs typeface="Times New Roman"/>
            </a:endParaRPr>
          </a:p>
        </p:txBody>
      </p:sp>
      <p:sp>
        <p:nvSpPr>
          <p:cNvPr id="7" name="object 7"/>
          <p:cNvSpPr txBox="1"/>
          <p:nvPr/>
        </p:nvSpPr>
        <p:spPr>
          <a:xfrm>
            <a:off x="11406733" y="6428676"/>
            <a:ext cx="102870" cy="208279"/>
          </a:xfrm>
          <a:prstGeom prst="rect">
            <a:avLst/>
          </a:prstGeom>
        </p:spPr>
        <p:txBody>
          <a:bodyPr vert="horz" wrap="square" lIns="0" tIns="12700" rIns="0" bIns="0" rtlCol="0">
            <a:spAutoFit/>
          </a:bodyPr>
          <a:lstStyle/>
          <a:p>
            <a:pPr marL="12700">
              <a:lnSpc>
                <a:spcPct val="100000"/>
              </a:lnSpc>
              <a:spcBef>
                <a:spcPts val="100"/>
              </a:spcBef>
            </a:pPr>
            <a:r>
              <a:rPr lang="en-IN" sz="1200" spc="-50" dirty="0">
                <a:solidFill>
                  <a:srgbClr val="888888"/>
                </a:solidFill>
                <a:latin typeface="Calibri"/>
                <a:cs typeface="Calibri"/>
              </a:rPr>
              <a:t>1</a:t>
            </a:r>
            <a:endParaRPr lang="en-IN" sz="1200" dirty="0">
              <a:latin typeface="Calibri"/>
              <a:cs typeface="Calibri"/>
            </a:endParaRPr>
          </a:p>
        </p:txBody>
      </p:sp>
      <p:sp>
        <p:nvSpPr>
          <p:cNvPr id="8" name="object 8"/>
          <p:cNvSpPr txBox="1"/>
          <p:nvPr/>
        </p:nvSpPr>
        <p:spPr>
          <a:xfrm>
            <a:off x="4457167" y="6428676"/>
            <a:ext cx="3273425" cy="208279"/>
          </a:xfrm>
          <a:prstGeom prst="rect">
            <a:avLst/>
          </a:prstGeom>
        </p:spPr>
        <p:txBody>
          <a:bodyPr vert="horz" wrap="square" lIns="0" tIns="12700" rIns="0" bIns="0" rtlCol="0">
            <a:spAutoFit/>
          </a:bodyPr>
          <a:lstStyle/>
          <a:p>
            <a:pPr marL="12700">
              <a:lnSpc>
                <a:spcPct val="100000"/>
              </a:lnSpc>
              <a:spcBef>
                <a:spcPts val="100"/>
              </a:spcBef>
            </a:pPr>
            <a:r>
              <a:rPr lang="en-US" sz="1200" dirty="0">
                <a:solidFill>
                  <a:srgbClr val="888888"/>
                </a:solidFill>
                <a:latin typeface="Calibri"/>
                <a:cs typeface="Calibri"/>
              </a:rPr>
              <a:t>Department</a:t>
            </a:r>
            <a:r>
              <a:rPr lang="en-US" sz="1200" spc="-30" dirty="0">
                <a:solidFill>
                  <a:srgbClr val="888888"/>
                </a:solidFill>
                <a:latin typeface="Calibri"/>
                <a:cs typeface="Calibri"/>
              </a:rPr>
              <a:t> </a:t>
            </a:r>
            <a:r>
              <a:rPr lang="en-US" sz="1200" dirty="0">
                <a:solidFill>
                  <a:srgbClr val="888888"/>
                </a:solidFill>
                <a:latin typeface="Calibri"/>
                <a:cs typeface="Calibri"/>
              </a:rPr>
              <a:t>of</a:t>
            </a:r>
            <a:r>
              <a:rPr lang="en-US" sz="1200" spc="-20" dirty="0">
                <a:solidFill>
                  <a:srgbClr val="888888"/>
                </a:solidFill>
                <a:latin typeface="Calibri"/>
                <a:cs typeface="Calibri"/>
              </a:rPr>
              <a:t> </a:t>
            </a:r>
            <a:r>
              <a:rPr lang="en-US" sz="1200" dirty="0">
                <a:solidFill>
                  <a:srgbClr val="888888"/>
                </a:solidFill>
                <a:latin typeface="Calibri"/>
                <a:cs typeface="Calibri"/>
              </a:rPr>
              <a:t>CSE</a:t>
            </a:r>
            <a:r>
              <a:rPr lang="en-US" sz="1200" spc="-15" dirty="0">
                <a:solidFill>
                  <a:srgbClr val="888888"/>
                </a:solidFill>
                <a:latin typeface="Calibri"/>
                <a:cs typeface="Calibri"/>
              </a:rPr>
              <a:t> </a:t>
            </a:r>
            <a:r>
              <a:rPr lang="en-US" sz="1200" spc="-10" dirty="0">
                <a:solidFill>
                  <a:srgbClr val="888888"/>
                </a:solidFill>
                <a:latin typeface="Calibri"/>
                <a:cs typeface="Calibri"/>
              </a:rPr>
              <a:t>Jerusalem</a:t>
            </a:r>
            <a:r>
              <a:rPr lang="en-US" sz="1200" spc="-20" dirty="0">
                <a:solidFill>
                  <a:srgbClr val="888888"/>
                </a:solidFill>
                <a:latin typeface="Calibri"/>
                <a:cs typeface="Calibri"/>
              </a:rPr>
              <a:t> </a:t>
            </a:r>
            <a:r>
              <a:rPr lang="en-US" sz="1200" spc="-10" dirty="0">
                <a:solidFill>
                  <a:srgbClr val="888888"/>
                </a:solidFill>
                <a:latin typeface="Calibri"/>
                <a:cs typeface="Calibri"/>
              </a:rPr>
              <a:t>College</a:t>
            </a:r>
            <a:r>
              <a:rPr lang="en-US" sz="1200" spc="-20" dirty="0">
                <a:solidFill>
                  <a:srgbClr val="888888"/>
                </a:solidFill>
                <a:latin typeface="Calibri"/>
                <a:cs typeface="Calibri"/>
              </a:rPr>
              <a:t> </a:t>
            </a:r>
            <a:r>
              <a:rPr lang="en-US" sz="1200" dirty="0">
                <a:solidFill>
                  <a:srgbClr val="888888"/>
                </a:solidFill>
                <a:latin typeface="Calibri"/>
                <a:cs typeface="Calibri"/>
              </a:rPr>
              <a:t>of</a:t>
            </a:r>
            <a:r>
              <a:rPr lang="en-US" sz="1200" spc="-15" dirty="0">
                <a:solidFill>
                  <a:srgbClr val="888888"/>
                </a:solidFill>
                <a:latin typeface="Calibri"/>
                <a:cs typeface="Calibri"/>
              </a:rPr>
              <a:t> </a:t>
            </a:r>
            <a:r>
              <a:rPr lang="en-US" sz="1200" spc="-10" dirty="0">
                <a:solidFill>
                  <a:srgbClr val="888888"/>
                </a:solidFill>
                <a:latin typeface="Calibri"/>
                <a:cs typeface="Calibri"/>
              </a:rPr>
              <a:t>Engineering</a:t>
            </a:r>
            <a:endParaRPr lang="en-US" sz="1200" dirty="0">
              <a:latin typeface="Calibri"/>
              <a:cs typeface="Calibri"/>
            </a:endParaRPr>
          </a:p>
        </p:txBody>
      </p:sp>
      <p:sp>
        <p:nvSpPr>
          <p:cNvPr id="9" name="object 9"/>
          <p:cNvSpPr txBox="1"/>
          <p:nvPr/>
        </p:nvSpPr>
        <p:spPr>
          <a:xfrm>
            <a:off x="386291" y="6419298"/>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201F80A-AF5E-0D64-5EF1-7ED81AB0C3B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6C80171-397E-228B-FE00-589024ABFA68}"/>
              </a:ext>
            </a:extLst>
          </p:cNvPr>
          <p:cNvSpPr txBox="1">
            <a:spLocks noGrp="1"/>
          </p:cNvSpPr>
          <p:nvPr>
            <p:ph type="dt" sz="half" idx="6"/>
          </p:nvPr>
        </p:nvSpPr>
        <p:spPr>
          <a:xfrm>
            <a:off x="5062897" y="6375336"/>
            <a:ext cx="2063750" cy="156068"/>
          </a:xfrm>
          <a:prstGeom prst="rect">
            <a:avLst/>
          </a:prstGeom>
        </p:spPr>
        <p:txBody>
          <a:bodyPr vert="horz" wrap="square" lIns="0" tIns="0" rIns="0" bIns="0" rtlCol="0">
            <a:spAutoFit/>
          </a:bodyPr>
          <a:lstStyle/>
          <a:p>
            <a:pPr marL="1270" algn="ctr">
              <a:lnSpc>
                <a:spcPts val="1240"/>
              </a:lnSpc>
            </a:pPr>
            <a:endParaRPr spc="-10" dirty="0"/>
          </a:p>
        </p:txBody>
      </p:sp>
      <p:sp>
        <p:nvSpPr>
          <p:cNvPr id="6" name="object 6">
            <a:extLst>
              <a:ext uri="{FF2B5EF4-FFF2-40B4-BE49-F238E27FC236}">
                <a16:creationId xmlns:a16="http://schemas.microsoft.com/office/drawing/2014/main" id="{F490452B-2FA2-0111-AFD6-B4FADABD37BD}"/>
              </a:ext>
            </a:extLst>
          </p:cNvPr>
          <p:cNvSpPr txBox="1">
            <a:spLocks noGrp="1"/>
          </p:cNvSpPr>
          <p:nvPr>
            <p:ph type="sldNum" sz="quarter" idx="7"/>
          </p:nvPr>
        </p:nvSpPr>
        <p:spPr>
          <a:xfrm>
            <a:off x="11381333" y="6466776"/>
            <a:ext cx="166370" cy="156068"/>
          </a:xfrm>
          <a:prstGeom prst="rect">
            <a:avLst/>
          </a:prstGeom>
        </p:spPr>
        <p:txBody>
          <a:bodyPr vert="horz" wrap="square" lIns="0" tIns="0" rIns="0" bIns="0" rtlCol="0">
            <a:spAutoFit/>
          </a:bodyPr>
          <a:lstStyle/>
          <a:p>
            <a:pPr marL="38100">
              <a:lnSpc>
                <a:spcPts val="1240"/>
              </a:lnSpc>
            </a:pPr>
            <a:endParaRPr spc="-50" dirty="0"/>
          </a:p>
        </p:txBody>
      </p:sp>
      <p:sp>
        <p:nvSpPr>
          <p:cNvPr id="2" name="object 2">
            <a:extLst>
              <a:ext uri="{FF2B5EF4-FFF2-40B4-BE49-F238E27FC236}">
                <a16:creationId xmlns:a16="http://schemas.microsoft.com/office/drawing/2014/main" id="{79EAC942-4ACE-CC78-33AC-82C57D470744}"/>
              </a:ext>
            </a:extLst>
          </p:cNvPr>
          <p:cNvSpPr txBox="1">
            <a:spLocks noGrp="1"/>
          </p:cNvSpPr>
          <p:nvPr>
            <p:ph type="title"/>
          </p:nvPr>
        </p:nvSpPr>
        <p:spPr>
          <a:xfrm>
            <a:off x="608372" y="213424"/>
            <a:ext cx="10972800" cy="868680"/>
          </a:xfrm>
          <a:prstGeom prst="rect">
            <a:avLst/>
          </a:prstGeom>
          <a:solidFill>
            <a:srgbClr val="17365D"/>
          </a:solidFill>
        </p:spPr>
        <p:txBody>
          <a:bodyPr vert="horz" wrap="square" lIns="0" tIns="141605" rIns="0" bIns="0" rtlCol="0">
            <a:spAutoFit/>
          </a:bodyPr>
          <a:lstStyle/>
          <a:p>
            <a:pPr algn="ctr">
              <a:lnSpc>
                <a:spcPct val="100000"/>
              </a:lnSpc>
              <a:spcBef>
                <a:spcPts val="1115"/>
              </a:spcBef>
            </a:pPr>
            <a:r>
              <a:rPr spc="-10" dirty="0"/>
              <a:t>OBJECTIVE</a:t>
            </a:r>
          </a:p>
        </p:txBody>
      </p:sp>
      <p:sp>
        <p:nvSpPr>
          <p:cNvPr id="3" name="object 3">
            <a:extLst>
              <a:ext uri="{FF2B5EF4-FFF2-40B4-BE49-F238E27FC236}">
                <a16:creationId xmlns:a16="http://schemas.microsoft.com/office/drawing/2014/main" id="{49223FBC-E2AE-2CAB-4746-5C3E680C1F88}"/>
              </a:ext>
            </a:extLst>
          </p:cNvPr>
          <p:cNvSpPr txBox="1"/>
          <p:nvPr/>
        </p:nvSpPr>
        <p:spPr>
          <a:xfrm>
            <a:off x="682624" y="1676400"/>
            <a:ext cx="10882888" cy="1116011"/>
          </a:xfrm>
          <a:prstGeom prst="rect">
            <a:avLst/>
          </a:prstGeom>
        </p:spPr>
        <p:txBody>
          <a:bodyPr vert="horz" wrap="square" lIns="0" tIns="73660" rIns="0" bIns="0"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To design a wearable glove that translates hand gestures into text and speech for real-time communication.</a:t>
            </a:r>
          </a:p>
        </p:txBody>
      </p:sp>
    </p:spTree>
    <p:extLst>
      <p:ext uri="{BB962C8B-B14F-4D97-AF65-F5344CB8AC3E}">
        <p14:creationId xmlns:p14="http://schemas.microsoft.com/office/powerpoint/2010/main" val="3861162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3</a:t>
            </a:fld>
            <a:endParaRPr spc="-50" dirty="0"/>
          </a:p>
        </p:txBody>
      </p:sp>
      <p:sp>
        <p:nvSpPr>
          <p:cNvPr id="2" name="object 2"/>
          <p:cNvSpPr txBox="1">
            <a:spLocks noGrp="1"/>
          </p:cNvSpPr>
          <p:nvPr>
            <p:ph type="title"/>
          </p:nvPr>
        </p:nvSpPr>
        <p:spPr>
          <a:xfrm>
            <a:off x="608372" y="213424"/>
            <a:ext cx="10972800" cy="696986"/>
          </a:xfrm>
          <a:prstGeom prst="rect">
            <a:avLst/>
          </a:prstGeom>
          <a:solidFill>
            <a:srgbClr val="17365D"/>
          </a:solidFill>
        </p:spPr>
        <p:txBody>
          <a:bodyPr vert="horz" wrap="square" lIns="0" tIns="141605" rIns="0" bIns="0" rtlCol="0">
            <a:spAutoFit/>
          </a:bodyPr>
          <a:lstStyle/>
          <a:p>
            <a:pPr algn="ctr">
              <a:lnSpc>
                <a:spcPct val="100000"/>
              </a:lnSpc>
              <a:spcBef>
                <a:spcPts val="1115"/>
              </a:spcBef>
            </a:pPr>
            <a:r>
              <a:rPr lang="en-US" spc="-10" dirty="0"/>
              <a:t>PROJECT DOMAIN</a:t>
            </a:r>
            <a:endParaRPr spc="-10" dirty="0"/>
          </a:p>
        </p:txBody>
      </p:sp>
      <p:sp>
        <p:nvSpPr>
          <p:cNvPr id="3" name="object 3"/>
          <p:cNvSpPr txBox="1"/>
          <p:nvPr/>
        </p:nvSpPr>
        <p:spPr>
          <a:xfrm>
            <a:off x="653328" y="1219200"/>
            <a:ext cx="10319472" cy="4358694"/>
          </a:xfrm>
          <a:prstGeom prst="rect">
            <a:avLst/>
          </a:prstGeom>
        </p:spPr>
        <p:txBody>
          <a:bodyPr vert="horz" wrap="square" lIns="0" tIns="73660" rIns="0" bIns="0" rtlCol="0">
            <a:spAutoFit/>
          </a:bodyPr>
          <a:lstStyle/>
          <a:p>
            <a:pPr marL="342900" indent="-342900">
              <a:lnSpc>
                <a:spcPct val="150000"/>
              </a:lnSpc>
              <a:buFont typeface="Wingdings" pitchFamily="2" charset="2"/>
              <a:buChar char="Ø"/>
            </a:pPr>
            <a:r>
              <a:rPr lang="en-US" sz="2400" b="1" dirty="0" err="1">
                <a:latin typeface="Times New Roman" pitchFamily="18" charset="0"/>
                <a:cs typeface="Times New Roman" pitchFamily="18" charset="0"/>
              </a:rPr>
              <a:t>IoT</a:t>
            </a:r>
            <a:r>
              <a:rPr lang="en-US" sz="2400" b="1" dirty="0">
                <a:latin typeface="Times New Roman" pitchFamily="18" charset="0"/>
                <a:cs typeface="Times New Roman" pitchFamily="18" charset="0"/>
              </a:rPr>
              <a:t>-Enabled Assistive Technology</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This project focuses on bridging the communication gap between hearing and non-hearing individuals using </a:t>
            </a:r>
            <a:r>
              <a:rPr lang="en-US" sz="2000" dirty="0" err="1">
                <a:latin typeface="Times New Roman" pitchFamily="18" charset="0"/>
                <a:cs typeface="Times New Roman" pitchFamily="18" charset="0"/>
              </a:rPr>
              <a:t>IoT</a:t>
            </a:r>
            <a:r>
              <a:rPr lang="en-US" sz="2000" dirty="0">
                <a:latin typeface="Times New Roman" pitchFamily="18" charset="0"/>
                <a:cs typeface="Times New Roman" pitchFamily="18" charset="0"/>
              </a:rPr>
              <a:t>-based wearable technology. The smart glove enables real-time translation of sign language into text and speech, making communication simple and accessible.</a:t>
            </a:r>
          </a:p>
          <a:p>
            <a:pPr marL="342900" indent="-342900">
              <a:lnSpc>
                <a:spcPct val="150000"/>
              </a:lnSpc>
              <a:buFont typeface="Wingdings" pitchFamily="2" charset="2"/>
              <a:buChar char="Ø"/>
            </a:pPr>
            <a:endParaRPr lang="en-US" sz="2000" dirty="0">
              <a:latin typeface="Times New Roman" pitchFamily="18" charset="0"/>
              <a:cs typeface="Times New Roman" pitchFamily="18" charset="0"/>
            </a:endParaRPr>
          </a:p>
          <a:p>
            <a:pPr marL="342900" indent="-342900">
              <a:lnSpc>
                <a:spcPct val="150000"/>
              </a:lnSpc>
              <a:buFont typeface="Wingdings" pitchFamily="2" charset="2"/>
              <a:buChar char="Ø"/>
            </a:pPr>
            <a:r>
              <a:rPr lang="en-US" sz="2400" b="1" dirty="0">
                <a:latin typeface="Times New Roman" pitchFamily="18" charset="0"/>
                <a:cs typeface="Times New Roman" pitchFamily="18" charset="0"/>
              </a:rPr>
              <a:t>AI-Driven Smart Wearable Systems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The system integrates AI and sensor-based gesture recognition with mobile applications to provide accurate, real-time communication support. Designed for comfort and inclusivity, it finds applications in education, healthcare, social interaction, and smart environments.</a:t>
            </a:r>
          </a:p>
        </p:txBody>
      </p:sp>
      <p:sp>
        <p:nvSpPr>
          <p:cNvPr id="7" name="object 9">
            <a:extLst>
              <a:ext uri="{FF2B5EF4-FFF2-40B4-BE49-F238E27FC236}">
                <a16:creationId xmlns:a16="http://schemas.microsoft.com/office/drawing/2014/main" id="{AF2DFCDC-C612-A39F-A1CF-31A69021A070}"/>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4</a:t>
            </a:fld>
            <a:endParaRPr spc="-50" dirty="0"/>
          </a:p>
        </p:txBody>
      </p:sp>
      <p:sp>
        <p:nvSpPr>
          <p:cNvPr id="2" name="object 2"/>
          <p:cNvSpPr txBox="1">
            <a:spLocks noGrp="1"/>
          </p:cNvSpPr>
          <p:nvPr>
            <p:ph type="title"/>
          </p:nvPr>
        </p:nvSpPr>
        <p:spPr>
          <a:xfrm>
            <a:off x="609600" y="274638"/>
            <a:ext cx="10972800" cy="868680"/>
          </a:xfrm>
          <a:prstGeom prst="rect">
            <a:avLst/>
          </a:prstGeom>
          <a:solidFill>
            <a:srgbClr val="17365D"/>
          </a:solidFill>
        </p:spPr>
        <p:txBody>
          <a:bodyPr vert="horz" wrap="square" lIns="0" tIns="141605" rIns="0" bIns="0" rtlCol="0">
            <a:spAutoFit/>
          </a:bodyPr>
          <a:lstStyle/>
          <a:p>
            <a:pPr algn="ctr">
              <a:lnSpc>
                <a:spcPct val="100000"/>
              </a:lnSpc>
              <a:spcBef>
                <a:spcPts val="1115"/>
              </a:spcBef>
            </a:pPr>
            <a:r>
              <a:rPr dirty="0"/>
              <a:t>EXISTING</a:t>
            </a:r>
            <a:r>
              <a:rPr spc="-40" dirty="0"/>
              <a:t> </a:t>
            </a:r>
            <a:r>
              <a:rPr spc="-10" dirty="0"/>
              <a:t>SYSTEM</a:t>
            </a:r>
          </a:p>
        </p:txBody>
      </p:sp>
      <p:sp>
        <p:nvSpPr>
          <p:cNvPr id="7" name="TextBox 6">
            <a:extLst>
              <a:ext uri="{FF2B5EF4-FFF2-40B4-BE49-F238E27FC236}">
                <a16:creationId xmlns:a16="http://schemas.microsoft.com/office/drawing/2014/main" id="{E430914A-8771-16B2-0FF9-569D79BE00D4}"/>
              </a:ext>
            </a:extLst>
          </p:cNvPr>
          <p:cNvSpPr txBox="1"/>
          <p:nvPr/>
        </p:nvSpPr>
        <p:spPr>
          <a:xfrm>
            <a:off x="606425" y="1720840"/>
            <a:ext cx="10975975" cy="230832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Bright Sign Glove – Sign language to speech/text using a mobile app.</a:t>
            </a:r>
          </a:p>
          <a:p>
            <a:pPr marL="285750" indent="-285750" algn="just">
              <a:lnSpc>
                <a:spcPct val="150000"/>
              </a:lnSpc>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Echolink</a:t>
            </a:r>
            <a:r>
              <a:rPr lang="en-US" sz="2400" dirty="0">
                <a:latin typeface="Times New Roman" panose="02020603050405020304" pitchFamily="18" charset="0"/>
                <a:cs typeface="Times New Roman" panose="02020603050405020304" pitchFamily="18" charset="0"/>
              </a:rPr>
              <a:t> Glove – Customizable gestures converted to real-time text.</a:t>
            </a:r>
          </a:p>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SR Robotics Glove – </a:t>
            </a:r>
            <a:r>
              <a:rPr lang="en-US" sz="2400" dirty="0" err="1">
                <a:latin typeface="Times New Roman" panose="02020603050405020304" pitchFamily="18" charset="0"/>
                <a:cs typeface="Times New Roman" panose="02020603050405020304" pitchFamily="18" charset="0"/>
              </a:rPr>
              <a:t>Arduino</a:t>
            </a:r>
            <a:r>
              <a:rPr lang="en-US" sz="2400" dirty="0">
                <a:latin typeface="Times New Roman" panose="02020603050405020304" pitchFamily="18" charset="0"/>
                <a:cs typeface="Times New Roman" panose="02020603050405020304" pitchFamily="18" charset="0"/>
              </a:rPr>
              <a:t>-based glove displaying letters on LCD.</a:t>
            </a:r>
          </a:p>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UCLA Wearable-Tech Glove – ASL to English speech via smartphone app.</a:t>
            </a:r>
            <a:endParaRPr lang="en-IN" sz="2400" dirty="0">
              <a:latin typeface="Times New Roman" panose="02020603050405020304" pitchFamily="18" charset="0"/>
              <a:cs typeface="Times New Roman" panose="02020603050405020304" pitchFamily="18" charset="0"/>
            </a:endParaRPr>
          </a:p>
        </p:txBody>
      </p:sp>
      <p:sp>
        <p:nvSpPr>
          <p:cNvPr id="6" name="object 9">
            <a:extLst>
              <a:ext uri="{FF2B5EF4-FFF2-40B4-BE49-F238E27FC236}">
                <a16:creationId xmlns:a16="http://schemas.microsoft.com/office/drawing/2014/main" id="{E2C4D9C4-7816-CD0F-424F-8B2D129142F3}"/>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5062897" y="6558216"/>
            <a:ext cx="2063750" cy="177800"/>
          </a:xfrm>
          <a:prstGeom prst="rect">
            <a:avLst/>
          </a:prstGeom>
        </p:spPr>
        <p:txBody>
          <a:bodyPr vert="horz" wrap="square" lIns="0" tIns="0" rIns="0" bIns="0" rtlCol="0">
            <a:spAutoFit/>
          </a:bodyPr>
          <a:lstStyle/>
          <a:p>
            <a:pPr marL="12700">
              <a:lnSpc>
                <a:spcPts val="1240"/>
              </a:lnSpc>
            </a:pPr>
            <a:r>
              <a:rPr sz="1200" spc="-10" dirty="0">
                <a:solidFill>
                  <a:srgbClr val="888888"/>
                </a:solidFill>
                <a:latin typeface="Calibri"/>
                <a:cs typeface="Calibri"/>
              </a:rPr>
              <a:t>Jerusalem College </a:t>
            </a:r>
            <a:r>
              <a:rPr sz="1200" dirty="0">
                <a:solidFill>
                  <a:srgbClr val="888888"/>
                </a:solidFill>
                <a:latin typeface="Calibri"/>
                <a:cs typeface="Calibri"/>
              </a:rPr>
              <a:t>of</a:t>
            </a:r>
            <a:r>
              <a:rPr sz="1200" spc="-5" dirty="0">
                <a:solidFill>
                  <a:srgbClr val="888888"/>
                </a:solidFill>
                <a:latin typeface="Calibri"/>
                <a:cs typeface="Calibri"/>
              </a:rPr>
              <a:t> </a:t>
            </a:r>
            <a:r>
              <a:rPr sz="1200" spc="-10" dirty="0">
                <a:solidFill>
                  <a:srgbClr val="888888"/>
                </a:solidFill>
                <a:latin typeface="Calibri"/>
                <a:cs typeface="Calibri"/>
              </a:rPr>
              <a:t>Engineering</a:t>
            </a:r>
            <a:endParaRPr sz="1200">
              <a:latin typeface="Calibri"/>
              <a:cs typeface="Calibri"/>
            </a:endParaRPr>
          </a:p>
        </p:txBody>
      </p:sp>
      <p:sp>
        <p:nvSpPr>
          <p:cNvPr id="2" name="object 2"/>
          <p:cNvSpPr txBox="1"/>
          <p:nvPr/>
        </p:nvSpPr>
        <p:spPr>
          <a:xfrm>
            <a:off x="11419433" y="6479476"/>
            <a:ext cx="77470" cy="152400"/>
          </a:xfrm>
          <a:prstGeom prst="rect">
            <a:avLst/>
          </a:prstGeom>
        </p:spPr>
        <p:txBody>
          <a:bodyPr vert="horz" wrap="square" lIns="0" tIns="0" rIns="0" bIns="0" rtlCol="0">
            <a:spAutoFit/>
          </a:bodyPr>
          <a:lstStyle/>
          <a:p>
            <a:pPr>
              <a:lnSpc>
                <a:spcPts val="1140"/>
              </a:lnSpc>
            </a:pPr>
            <a:r>
              <a:rPr sz="1200" spc="-60" dirty="0">
                <a:solidFill>
                  <a:srgbClr val="888888"/>
                </a:solidFill>
                <a:latin typeface="Calibri"/>
                <a:cs typeface="Calibri"/>
              </a:rPr>
              <a:t>5</a:t>
            </a:r>
            <a:endParaRPr sz="1200">
              <a:latin typeface="Calibri"/>
              <a:cs typeface="Calibri"/>
            </a:endParaRPr>
          </a:p>
        </p:txBody>
      </p:sp>
      <p:sp>
        <p:nvSpPr>
          <p:cNvPr id="3" name="object 3"/>
          <p:cNvSpPr txBox="1"/>
          <p:nvPr/>
        </p:nvSpPr>
        <p:spPr>
          <a:xfrm>
            <a:off x="5507496" y="6388036"/>
            <a:ext cx="548005" cy="152400"/>
          </a:xfrm>
          <a:prstGeom prst="rect">
            <a:avLst/>
          </a:prstGeom>
        </p:spPr>
        <p:txBody>
          <a:bodyPr vert="horz" wrap="square" lIns="0" tIns="0" rIns="0" bIns="0" rtlCol="0">
            <a:spAutoFit/>
          </a:bodyPr>
          <a:lstStyle/>
          <a:p>
            <a:pPr>
              <a:lnSpc>
                <a:spcPts val="1140"/>
              </a:lnSpc>
            </a:pPr>
            <a:r>
              <a:rPr sz="1200" spc="-10" dirty="0">
                <a:solidFill>
                  <a:srgbClr val="888888"/>
                </a:solidFill>
                <a:latin typeface="Calibri"/>
                <a:cs typeface="Calibri"/>
              </a:rPr>
              <a:t>Departm</a:t>
            </a:r>
            <a:endParaRPr sz="1200">
              <a:latin typeface="Calibri"/>
              <a:cs typeface="Calibri"/>
            </a:endParaRPr>
          </a:p>
        </p:txBody>
      </p:sp>
      <p:sp>
        <p:nvSpPr>
          <p:cNvPr id="4" name="object 4"/>
          <p:cNvSpPr txBox="1"/>
          <p:nvPr/>
        </p:nvSpPr>
        <p:spPr>
          <a:xfrm>
            <a:off x="6055052" y="6388036"/>
            <a:ext cx="628015" cy="152400"/>
          </a:xfrm>
          <a:prstGeom prst="rect">
            <a:avLst/>
          </a:prstGeom>
        </p:spPr>
        <p:txBody>
          <a:bodyPr vert="horz" wrap="square" lIns="0" tIns="0" rIns="0" bIns="0" rtlCol="0">
            <a:spAutoFit/>
          </a:bodyPr>
          <a:lstStyle/>
          <a:p>
            <a:pPr>
              <a:lnSpc>
                <a:spcPts val="1140"/>
              </a:lnSpc>
            </a:pPr>
            <a:r>
              <a:rPr sz="1200" dirty="0">
                <a:solidFill>
                  <a:srgbClr val="888888"/>
                </a:solidFill>
                <a:latin typeface="Calibri"/>
                <a:cs typeface="Calibri"/>
              </a:rPr>
              <a:t>ent</a:t>
            </a:r>
            <a:r>
              <a:rPr sz="1200" spc="-30" dirty="0">
                <a:solidFill>
                  <a:srgbClr val="888888"/>
                </a:solidFill>
                <a:latin typeface="Calibri"/>
                <a:cs typeface="Calibri"/>
              </a:rPr>
              <a:t> </a:t>
            </a:r>
            <a:r>
              <a:rPr sz="1200" dirty="0">
                <a:solidFill>
                  <a:srgbClr val="888888"/>
                </a:solidFill>
                <a:latin typeface="Calibri"/>
                <a:cs typeface="Calibri"/>
              </a:rPr>
              <a:t>of</a:t>
            </a:r>
            <a:r>
              <a:rPr sz="1200" spc="-15" dirty="0">
                <a:solidFill>
                  <a:srgbClr val="888888"/>
                </a:solidFill>
                <a:latin typeface="Calibri"/>
                <a:cs typeface="Calibri"/>
              </a:rPr>
              <a:t> </a:t>
            </a:r>
            <a:r>
              <a:rPr sz="1200" spc="-25" dirty="0">
                <a:solidFill>
                  <a:srgbClr val="888888"/>
                </a:solidFill>
                <a:latin typeface="Calibri"/>
                <a:cs typeface="Calibri"/>
              </a:rPr>
              <a:t>CSE</a:t>
            </a:r>
            <a:endParaRPr sz="1200">
              <a:latin typeface="Calibri"/>
              <a:cs typeface="Calibri"/>
            </a:endParaRPr>
          </a:p>
        </p:txBody>
      </p:sp>
      <p:sp>
        <p:nvSpPr>
          <p:cNvPr id="6" name="object 6"/>
          <p:cNvSpPr txBox="1">
            <a:spLocks noGrp="1"/>
          </p:cNvSpPr>
          <p:nvPr>
            <p:ph type="title"/>
          </p:nvPr>
        </p:nvSpPr>
        <p:spPr>
          <a:xfrm>
            <a:off x="608372" y="154934"/>
            <a:ext cx="10972800" cy="582930"/>
          </a:xfrm>
          <a:prstGeom prst="rect">
            <a:avLst/>
          </a:prstGeom>
          <a:solidFill>
            <a:srgbClr val="17365D"/>
          </a:solidFill>
        </p:spPr>
        <p:txBody>
          <a:bodyPr vert="horz" wrap="square" lIns="0" tIns="0" rIns="0" bIns="0" rtlCol="0">
            <a:spAutoFit/>
          </a:bodyPr>
          <a:lstStyle/>
          <a:p>
            <a:pPr algn="ctr">
              <a:lnSpc>
                <a:spcPts val="4310"/>
              </a:lnSpc>
            </a:pPr>
            <a:r>
              <a:rPr b="0" spc="-10" dirty="0">
                <a:latin typeface="Times New Roman"/>
                <a:cs typeface="Times New Roman"/>
              </a:rPr>
              <a:t>LITERATURE</a:t>
            </a:r>
            <a:r>
              <a:rPr b="0" spc="-175" dirty="0">
                <a:latin typeface="Times New Roman"/>
                <a:cs typeface="Times New Roman"/>
              </a:rPr>
              <a:t> </a:t>
            </a:r>
            <a:r>
              <a:rPr b="0" spc="-10" dirty="0">
                <a:latin typeface="Times New Roman"/>
                <a:cs typeface="Times New Roman"/>
              </a:rPr>
              <a:t>SURVEY</a:t>
            </a:r>
          </a:p>
        </p:txBody>
      </p:sp>
      <p:graphicFrame>
        <p:nvGraphicFramePr>
          <p:cNvPr id="7" name="object 7"/>
          <p:cNvGraphicFramePr>
            <a:graphicFrameLocks noGrp="1"/>
          </p:cNvGraphicFramePr>
          <p:nvPr>
            <p:extLst>
              <p:ext uri="{D42A27DB-BD31-4B8C-83A1-F6EECF244321}">
                <p14:modId xmlns:p14="http://schemas.microsoft.com/office/powerpoint/2010/main" val="795528189"/>
              </p:ext>
            </p:extLst>
          </p:nvPr>
        </p:nvGraphicFramePr>
        <p:xfrm>
          <a:off x="609599" y="887036"/>
          <a:ext cx="10972801" cy="5398178"/>
        </p:xfrm>
        <a:graphic>
          <a:graphicData uri="http://schemas.openxmlformats.org/drawingml/2006/table">
            <a:tbl>
              <a:tblPr firstRow="1" bandRow="1">
                <a:tableStyleId>{2D5ABB26-0587-4C30-8999-92F81FD0307C}</a:tableStyleId>
              </a:tblPr>
              <a:tblGrid>
                <a:gridCol w="762001">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gridCol w="2819400">
                  <a:extLst>
                    <a:ext uri="{9D8B030D-6E8A-4147-A177-3AD203B41FA5}">
                      <a16:colId xmlns:a16="http://schemas.microsoft.com/office/drawing/2014/main" val="20003"/>
                    </a:ext>
                  </a:extLst>
                </a:gridCol>
              </a:tblGrid>
              <a:tr h="863349">
                <a:tc>
                  <a:txBody>
                    <a:bodyPr/>
                    <a:lstStyle/>
                    <a:p>
                      <a:pPr algn="ctr">
                        <a:lnSpc>
                          <a:spcPct val="100000"/>
                        </a:lnSpc>
                        <a:spcBef>
                          <a:spcPts val="140"/>
                        </a:spcBef>
                      </a:pPr>
                      <a:endParaRPr lang="en-IN" sz="1800" b="1" spc="-10" dirty="0">
                        <a:solidFill>
                          <a:srgbClr val="FFFFFF"/>
                        </a:solidFill>
                        <a:latin typeface="Times New Roman" panose="02020603050405020304" pitchFamily="18" charset="0"/>
                        <a:cs typeface="Times New Roman" panose="02020603050405020304" pitchFamily="18" charset="0"/>
                      </a:endParaRPr>
                    </a:p>
                    <a:p>
                      <a:pPr algn="ctr">
                        <a:lnSpc>
                          <a:spcPct val="100000"/>
                        </a:lnSpc>
                        <a:spcBef>
                          <a:spcPts val="140"/>
                        </a:spcBef>
                      </a:pPr>
                      <a:r>
                        <a:rPr lang="en-IN" sz="1800" b="1" spc="-10" dirty="0" err="1">
                          <a:solidFill>
                            <a:srgbClr val="FFFFFF"/>
                          </a:solidFill>
                          <a:latin typeface="Times New Roman" panose="02020603050405020304" pitchFamily="18" charset="0"/>
                          <a:cs typeface="Times New Roman" panose="02020603050405020304" pitchFamily="18" charset="0"/>
                        </a:rPr>
                        <a:t>Sl.No</a:t>
                      </a:r>
                      <a:r>
                        <a:rPr lang="en-IN" sz="1800" b="1" spc="-10" dirty="0">
                          <a:solidFill>
                            <a:srgbClr val="FFFFFF"/>
                          </a:solidFill>
                          <a:latin typeface="Times New Roman" panose="02020603050405020304" pitchFamily="18" charset="0"/>
                          <a:cs typeface="Times New Roman" panose="02020603050405020304" pitchFamily="18" charset="0"/>
                        </a:rPr>
                        <a:t>.</a:t>
                      </a:r>
                      <a:endParaRPr lang="en-IN" sz="1800" b="1" dirty="0">
                        <a:latin typeface="Times New Roman" panose="02020603050405020304" pitchFamily="18" charset="0"/>
                        <a:cs typeface="Times New Roman" panose="02020603050405020304" pitchFamily="18" charset="0"/>
                      </a:endParaRPr>
                    </a:p>
                  </a:txBody>
                  <a:tcPr marL="0" marR="0" marT="177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1176655" algn="ctr">
                        <a:lnSpc>
                          <a:spcPct val="100000"/>
                        </a:lnSpc>
                        <a:spcBef>
                          <a:spcPts val="140"/>
                        </a:spcBef>
                      </a:pPr>
                      <a:endParaRPr lang="en-IN" sz="1800" b="1" spc="-10">
                        <a:solidFill>
                          <a:srgbClr val="FFFFFF"/>
                        </a:solidFill>
                        <a:latin typeface="Times New Roman" panose="02020603050405020304" pitchFamily="18" charset="0"/>
                        <a:cs typeface="Times New Roman" panose="02020603050405020304" pitchFamily="18" charset="0"/>
                      </a:endParaRPr>
                    </a:p>
                    <a:p>
                      <a:pPr marL="1176655" algn="l">
                        <a:lnSpc>
                          <a:spcPct val="100000"/>
                        </a:lnSpc>
                        <a:spcBef>
                          <a:spcPts val="140"/>
                        </a:spcBef>
                      </a:pPr>
                      <a:r>
                        <a:rPr sz="1800" b="1" spc="-10">
                          <a:solidFill>
                            <a:srgbClr val="FFFFFF"/>
                          </a:solidFill>
                          <a:latin typeface="Times New Roman" panose="02020603050405020304" pitchFamily="18" charset="0"/>
                          <a:cs typeface="Times New Roman" panose="02020603050405020304" pitchFamily="18" charset="0"/>
                        </a:rPr>
                        <a:t>REFERENCE</a:t>
                      </a:r>
                      <a:r>
                        <a:rPr sz="1800" b="1" spc="-55">
                          <a:solidFill>
                            <a:srgbClr val="FFFFFF"/>
                          </a:solidFill>
                          <a:latin typeface="Times New Roman" panose="02020603050405020304" pitchFamily="18" charset="0"/>
                          <a:cs typeface="Times New Roman" panose="02020603050405020304" pitchFamily="18" charset="0"/>
                        </a:rPr>
                        <a:t> </a:t>
                      </a:r>
                      <a:r>
                        <a:rPr sz="1800" b="1" spc="-10">
                          <a:solidFill>
                            <a:srgbClr val="FFFFFF"/>
                          </a:solidFill>
                          <a:latin typeface="Times New Roman" panose="02020603050405020304" pitchFamily="18" charset="0"/>
                          <a:cs typeface="Times New Roman" panose="02020603050405020304" pitchFamily="18" charset="0"/>
                        </a:rPr>
                        <a:t>PAPER</a:t>
                      </a:r>
                      <a:endParaRPr sz="1800" b="1" dirty="0">
                        <a:latin typeface="Times New Roman" panose="02020603050405020304" pitchFamily="18" charset="0"/>
                        <a:cs typeface="Times New Roman" panose="02020603050405020304" pitchFamily="18" charset="0"/>
                      </a:endParaRPr>
                    </a:p>
                  </a:txBody>
                  <a:tcPr marL="0" marR="0" marT="1778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F81BD"/>
                    </a:solidFill>
                  </a:tcPr>
                </a:tc>
                <a:tc>
                  <a:txBody>
                    <a:bodyPr/>
                    <a:lstStyle/>
                    <a:p>
                      <a:pPr marL="396240" marR="392430" indent="153035" algn="ctr">
                        <a:lnSpc>
                          <a:spcPct val="100000"/>
                        </a:lnSpc>
                        <a:spcBef>
                          <a:spcPts val="140"/>
                        </a:spcBef>
                      </a:pPr>
                      <a:endParaRPr lang="en-IN" sz="1800" b="1">
                        <a:solidFill>
                          <a:srgbClr val="FFFFFF"/>
                        </a:solidFill>
                        <a:latin typeface="Times New Roman" panose="02020603050405020304" pitchFamily="18" charset="0"/>
                        <a:cs typeface="Times New Roman" panose="02020603050405020304" pitchFamily="18" charset="0"/>
                      </a:endParaRPr>
                    </a:p>
                    <a:p>
                      <a:pPr marL="396240" marR="392430" indent="153035" algn="ctr">
                        <a:lnSpc>
                          <a:spcPct val="100000"/>
                        </a:lnSpc>
                        <a:spcBef>
                          <a:spcPts val="140"/>
                        </a:spcBef>
                      </a:pPr>
                      <a:r>
                        <a:rPr sz="1800" b="1">
                          <a:solidFill>
                            <a:srgbClr val="FFFFFF"/>
                          </a:solidFill>
                          <a:latin typeface="Times New Roman" panose="02020603050405020304" pitchFamily="18" charset="0"/>
                          <a:cs typeface="Times New Roman" panose="02020603050405020304" pitchFamily="18" charset="0"/>
                        </a:rPr>
                        <a:t>WORK</a:t>
                      </a:r>
                      <a:r>
                        <a:rPr sz="1800" b="1" spc="-75">
                          <a:solidFill>
                            <a:srgbClr val="FFFFFF"/>
                          </a:solidFill>
                          <a:latin typeface="Times New Roman" panose="02020603050405020304" pitchFamily="18" charset="0"/>
                          <a:cs typeface="Times New Roman" panose="02020603050405020304" pitchFamily="18" charset="0"/>
                        </a:rPr>
                        <a:t> </a:t>
                      </a:r>
                      <a:r>
                        <a:rPr sz="1800" b="1">
                          <a:solidFill>
                            <a:srgbClr val="FFFFFF"/>
                          </a:solidFill>
                          <a:latin typeface="Times New Roman" panose="02020603050405020304" pitchFamily="18" charset="0"/>
                          <a:cs typeface="Times New Roman" panose="02020603050405020304" pitchFamily="18" charset="0"/>
                        </a:rPr>
                        <a:t>DONE</a:t>
                      </a:r>
                      <a:r>
                        <a:rPr sz="1800" b="1" spc="-75">
                          <a:solidFill>
                            <a:srgbClr val="FFFFFF"/>
                          </a:solidFill>
                          <a:latin typeface="Times New Roman" panose="02020603050405020304" pitchFamily="18" charset="0"/>
                          <a:cs typeface="Times New Roman" panose="02020603050405020304" pitchFamily="18" charset="0"/>
                        </a:rPr>
                        <a:t> </a:t>
                      </a:r>
                      <a:r>
                        <a:rPr sz="1800" b="1" spc="-25">
                          <a:solidFill>
                            <a:srgbClr val="FFFFFF"/>
                          </a:solidFill>
                          <a:latin typeface="Times New Roman" panose="02020603050405020304" pitchFamily="18" charset="0"/>
                          <a:cs typeface="Times New Roman" panose="02020603050405020304" pitchFamily="18" charset="0"/>
                        </a:rPr>
                        <a:t>IN </a:t>
                      </a:r>
                      <a:r>
                        <a:rPr sz="1800" b="1" spc="-10">
                          <a:solidFill>
                            <a:srgbClr val="FFFFFF"/>
                          </a:solidFill>
                          <a:latin typeface="Times New Roman" panose="02020603050405020304" pitchFamily="18" charset="0"/>
                          <a:cs typeface="Times New Roman" panose="02020603050405020304" pitchFamily="18" charset="0"/>
                        </a:rPr>
                        <a:t>REFERENCE</a:t>
                      </a:r>
                      <a:r>
                        <a:rPr sz="1800" b="1" spc="-55">
                          <a:solidFill>
                            <a:srgbClr val="FFFFFF"/>
                          </a:solidFill>
                          <a:latin typeface="Times New Roman" panose="02020603050405020304" pitchFamily="18" charset="0"/>
                          <a:cs typeface="Times New Roman" panose="02020603050405020304" pitchFamily="18" charset="0"/>
                        </a:rPr>
                        <a:t> </a:t>
                      </a:r>
                      <a:r>
                        <a:rPr sz="1800" b="1" spc="-10">
                          <a:solidFill>
                            <a:srgbClr val="FFFFFF"/>
                          </a:solidFill>
                          <a:latin typeface="Times New Roman" panose="02020603050405020304" pitchFamily="18" charset="0"/>
                          <a:cs typeface="Times New Roman" panose="02020603050405020304" pitchFamily="18" charset="0"/>
                        </a:rPr>
                        <a:t>PAPER</a:t>
                      </a:r>
                      <a:endParaRPr lang="en-IN" sz="1800" b="1" spc="-10">
                        <a:solidFill>
                          <a:srgbClr val="FFFFFF"/>
                        </a:solidFill>
                        <a:latin typeface="Times New Roman" panose="02020603050405020304" pitchFamily="18" charset="0"/>
                        <a:cs typeface="Times New Roman" panose="02020603050405020304" pitchFamily="18" charset="0"/>
                      </a:endParaRPr>
                    </a:p>
                  </a:txBody>
                  <a:tcPr marL="0" marR="0" marT="1778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F81BD"/>
                    </a:solidFill>
                  </a:tcPr>
                </a:tc>
                <a:tc>
                  <a:txBody>
                    <a:bodyPr/>
                    <a:lstStyle/>
                    <a:p>
                      <a:pPr marL="696595" marR="593090" indent="-98425" algn="ctr">
                        <a:lnSpc>
                          <a:spcPct val="100000"/>
                        </a:lnSpc>
                        <a:spcBef>
                          <a:spcPts val="140"/>
                        </a:spcBef>
                      </a:pPr>
                      <a:endParaRPr lang="en-IN" sz="1800" b="1" spc="-10">
                        <a:solidFill>
                          <a:srgbClr val="FFFFFF"/>
                        </a:solidFill>
                        <a:latin typeface="Times New Roman" panose="02020603050405020304" pitchFamily="18" charset="0"/>
                        <a:cs typeface="Times New Roman" panose="02020603050405020304" pitchFamily="18" charset="0"/>
                      </a:endParaRPr>
                    </a:p>
                    <a:p>
                      <a:pPr marL="696595" marR="593090" indent="-98425" algn="ctr">
                        <a:lnSpc>
                          <a:spcPct val="100000"/>
                        </a:lnSpc>
                        <a:spcBef>
                          <a:spcPts val="140"/>
                        </a:spcBef>
                      </a:pPr>
                      <a:r>
                        <a:rPr sz="1800" b="1" spc="-10">
                          <a:solidFill>
                            <a:srgbClr val="FFFFFF"/>
                          </a:solidFill>
                          <a:latin typeface="Times New Roman" panose="02020603050405020304" pitchFamily="18" charset="0"/>
                          <a:cs typeface="Times New Roman" panose="02020603050405020304" pitchFamily="18" charset="0"/>
                        </a:rPr>
                        <a:t>LIMITATIONS</a:t>
                      </a:r>
                      <a:r>
                        <a:rPr sz="1800" b="1" spc="-65">
                          <a:solidFill>
                            <a:srgbClr val="FFFFFF"/>
                          </a:solidFill>
                          <a:latin typeface="Times New Roman" panose="02020603050405020304" pitchFamily="18" charset="0"/>
                          <a:cs typeface="Times New Roman" panose="02020603050405020304" pitchFamily="18" charset="0"/>
                        </a:rPr>
                        <a:t> </a:t>
                      </a:r>
                      <a:r>
                        <a:rPr sz="1800" b="1" spc="-50">
                          <a:solidFill>
                            <a:srgbClr val="FFFFFF"/>
                          </a:solidFill>
                          <a:latin typeface="Times New Roman" panose="02020603050405020304" pitchFamily="18" charset="0"/>
                          <a:cs typeface="Times New Roman" panose="02020603050405020304" pitchFamily="18" charset="0"/>
                        </a:rPr>
                        <a:t>/ </a:t>
                      </a:r>
                      <a:r>
                        <a:rPr sz="1800" b="1" spc="-10">
                          <a:solidFill>
                            <a:srgbClr val="FFFFFF"/>
                          </a:solidFill>
                          <a:latin typeface="Times New Roman" panose="02020603050405020304" pitchFamily="18" charset="0"/>
                          <a:cs typeface="Times New Roman" panose="02020603050405020304" pitchFamily="18" charset="0"/>
                        </a:rPr>
                        <a:t>DRAWBACKS</a:t>
                      </a:r>
                      <a:endParaRPr sz="1800" b="1" dirty="0">
                        <a:latin typeface="Times New Roman" panose="02020603050405020304" pitchFamily="18" charset="0"/>
                        <a:cs typeface="Times New Roman" panose="02020603050405020304" pitchFamily="18" charset="0"/>
                      </a:endParaRPr>
                    </a:p>
                  </a:txBody>
                  <a:tcPr marL="0" marR="0" marT="1778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10000"/>
                  </a:ext>
                </a:extLst>
              </a:tr>
              <a:tr h="1115738">
                <a:tc>
                  <a:txBody>
                    <a:bodyPr/>
                    <a:lstStyle/>
                    <a:p>
                      <a:pPr algn="ctr">
                        <a:lnSpc>
                          <a:spcPct val="100000"/>
                        </a:lnSpc>
                        <a:spcBef>
                          <a:spcPts val="150"/>
                        </a:spcBef>
                      </a:pPr>
                      <a:endParaRPr lang="en-US" sz="1400" b="0" spc="-25" dirty="0">
                        <a:latin typeface="Times New Roman" panose="02020603050405020304" pitchFamily="18" charset="0"/>
                        <a:cs typeface="Times New Roman" panose="02020603050405020304" pitchFamily="18" charset="0"/>
                      </a:endParaRPr>
                    </a:p>
                    <a:p>
                      <a:pPr algn="ctr">
                        <a:lnSpc>
                          <a:spcPct val="100000"/>
                        </a:lnSpc>
                        <a:spcBef>
                          <a:spcPts val="150"/>
                        </a:spcBef>
                      </a:pPr>
                      <a:r>
                        <a:rPr sz="1400" b="0" spc="-25" dirty="0">
                          <a:latin typeface="Times New Roman" panose="02020603050405020304" pitchFamily="18" charset="0"/>
                          <a:cs typeface="Times New Roman" panose="02020603050405020304" pitchFamily="18" charset="0"/>
                        </a:rPr>
                        <a:t>1.</a:t>
                      </a:r>
                      <a:endParaRPr sz="1400" b="0" dirty="0">
                        <a:latin typeface="Times New Roman" panose="02020603050405020304" pitchFamily="18" charset="0"/>
                        <a:cs typeface="Times New Roman" panose="02020603050405020304" pitchFamily="18" charset="0"/>
                      </a:endParaRPr>
                    </a:p>
                  </a:txBody>
                  <a:tcPr marL="0" marR="0" marT="1905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CED7E7"/>
                    </a:solidFill>
                  </a:tcPr>
                </a:tc>
                <a:tc>
                  <a:txBody>
                    <a:bodyPr/>
                    <a:lstStyle/>
                    <a:p>
                      <a:pPr algn="l"/>
                      <a:r>
                        <a:rPr lang="en-US" sz="1400" b="1" i="0" dirty="0">
                          <a:latin typeface="Times New Roman" pitchFamily="18" charset="0"/>
                          <a:cs typeface="Times New Roman" pitchFamily="18" charset="0"/>
                        </a:rPr>
                        <a:t>Title:</a:t>
                      </a:r>
                      <a:r>
                        <a:rPr lang="en-US" sz="1400" i="0" dirty="0">
                          <a:latin typeface="Times New Roman" pitchFamily="18" charset="0"/>
                          <a:cs typeface="Times New Roman" pitchFamily="18" charset="0"/>
                        </a:rPr>
                        <a:t> Position-Based Control of </a:t>
                      </a:r>
                      <a:r>
                        <a:rPr lang="en-US" sz="1400" i="0" dirty="0" err="1">
                          <a:latin typeface="Times New Roman" pitchFamily="18" charset="0"/>
                          <a:cs typeface="Times New Roman" pitchFamily="18" charset="0"/>
                        </a:rPr>
                        <a:t>Dexmo</a:t>
                      </a:r>
                      <a:r>
                        <a:rPr lang="en-US" sz="1400" i="0" dirty="0">
                          <a:latin typeface="Times New Roman" pitchFamily="18" charset="0"/>
                          <a:cs typeface="Times New Roman" pitchFamily="18" charset="0"/>
                        </a:rPr>
                        <a:t> Glove</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Authors:</a:t>
                      </a:r>
                      <a:r>
                        <a:rPr lang="en-US" sz="1400" i="0" dirty="0">
                          <a:latin typeface="Times New Roman" pitchFamily="18" charset="0"/>
                          <a:cs typeface="Times New Roman" pitchFamily="18" charset="0"/>
                        </a:rPr>
                        <a:t> Liu &amp; Wang</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Year:</a:t>
                      </a:r>
                      <a:r>
                        <a:rPr lang="en-US" sz="1400" i="0" dirty="0">
                          <a:latin typeface="Times New Roman" pitchFamily="18" charset="0"/>
                          <a:cs typeface="Times New Roman" pitchFamily="18" charset="0"/>
                        </a:rPr>
                        <a:t> 2019</a:t>
                      </a:r>
                    </a:p>
                  </a:txBody>
                  <a:tcPr anchor="ctr">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CED7E7"/>
                    </a:solidFill>
                  </a:tcPr>
                </a:tc>
                <a:tc>
                  <a:txBody>
                    <a:bodyPr/>
                    <a:lstStyle/>
                    <a:p>
                      <a:pPr algn="l"/>
                      <a:r>
                        <a:rPr lang="en-US" sz="1400" i="0" dirty="0">
                          <a:latin typeface="Times New Roman" panose="02020603050405020304" pitchFamily="18" charset="0"/>
                          <a:cs typeface="Times New Roman" panose="02020603050405020304" pitchFamily="18" charset="0"/>
                        </a:rPr>
                        <a:t>Developed 3D lookup table control for </a:t>
                      </a:r>
                      <a:r>
                        <a:rPr lang="en-US" sz="1400" i="0" dirty="0" err="1">
                          <a:latin typeface="Times New Roman" panose="02020603050405020304" pitchFamily="18" charset="0"/>
                          <a:cs typeface="Times New Roman" panose="02020603050405020304" pitchFamily="18" charset="0"/>
                        </a:rPr>
                        <a:t>Dexmo</a:t>
                      </a:r>
                      <a:r>
                        <a:rPr lang="en-US" sz="1400" i="0" dirty="0">
                          <a:latin typeface="Times New Roman" panose="02020603050405020304" pitchFamily="18" charset="0"/>
                          <a:cs typeface="Times New Roman" panose="02020603050405020304" pitchFamily="18" charset="0"/>
                        </a:rPr>
                        <a:t> glove to map fingertip positions for VR haptic feedback.</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12700">
                      <a:solidFill>
                        <a:srgbClr val="FFFFFF"/>
                      </a:solidFill>
                      <a:prstDash val="solid"/>
                    </a:lnB>
                    <a:solidFill>
                      <a:srgbClr val="CED7E7"/>
                    </a:solidFill>
                  </a:tcPr>
                </a:tc>
                <a:tc>
                  <a:txBody>
                    <a:bodyPr/>
                    <a:lstStyle/>
                    <a:p>
                      <a:pPr algn="l"/>
                      <a:r>
                        <a:rPr lang="en-US" sz="1400" i="0" dirty="0">
                          <a:latin typeface="Times New Roman" panose="02020603050405020304" pitchFamily="18" charset="0"/>
                          <a:cs typeface="Times New Roman" panose="02020603050405020304" pitchFamily="18" charset="0"/>
                        </a:rPr>
                        <a:t>Limited movement sensing; errors in complex poses; possible force feedback inaccuracy &amp; latency.</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CED7E7"/>
                    </a:solidFill>
                  </a:tcPr>
                </a:tc>
                <a:extLst>
                  <a:ext uri="{0D108BD9-81ED-4DB2-BD59-A6C34878D82A}">
                    <a16:rowId xmlns:a16="http://schemas.microsoft.com/office/drawing/2014/main" val="10001"/>
                  </a:ext>
                </a:extLst>
              </a:tr>
              <a:tr h="868002">
                <a:tc>
                  <a:txBody>
                    <a:bodyPr/>
                    <a:lstStyle/>
                    <a:p>
                      <a:pPr algn="ctr">
                        <a:lnSpc>
                          <a:spcPct val="100000"/>
                        </a:lnSpc>
                        <a:spcBef>
                          <a:spcPts val="150"/>
                        </a:spcBef>
                      </a:pPr>
                      <a:endParaRPr lang="en-US" sz="1400" b="0" spc="-25">
                        <a:latin typeface="Times New Roman" panose="02020603050405020304" pitchFamily="18" charset="0"/>
                        <a:cs typeface="Times New Roman" panose="02020603050405020304" pitchFamily="18" charset="0"/>
                      </a:endParaRPr>
                    </a:p>
                    <a:p>
                      <a:pPr algn="ctr">
                        <a:lnSpc>
                          <a:spcPct val="100000"/>
                        </a:lnSpc>
                        <a:spcBef>
                          <a:spcPts val="150"/>
                        </a:spcBef>
                      </a:pPr>
                      <a:r>
                        <a:rPr sz="1400" b="0" spc="-25">
                          <a:latin typeface="Times New Roman" panose="02020603050405020304" pitchFamily="18" charset="0"/>
                          <a:cs typeface="Times New Roman" panose="02020603050405020304" pitchFamily="18" charset="0"/>
                        </a:rPr>
                        <a:t>2.</a:t>
                      </a:r>
                      <a:endParaRPr sz="1400" b="0" dirty="0">
                        <a:latin typeface="Times New Roman" panose="02020603050405020304" pitchFamily="18" charset="0"/>
                        <a:cs typeface="Times New Roman" panose="02020603050405020304" pitchFamily="18" charset="0"/>
                      </a:endParaRPr>
                    </a:p>
                  </a:txBody>
                  <a:tcPr marL="0" marR="0" marT="1905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7ECF4"/>
                    </a:solidFill>
                  </a:tcPr>
                </a:tc>
                <a:tc>
                  <a:txBody>
                    <a:bodyPr/>
                    <a:lstStyle/>
                    <a:p>
                      <a:pPr algn="l"/>
                      <a:r>
                        <a:rPr lang="en-US" sz="1400" b="1" i="0" dirty="0">
                          <a:latin typeface="Times New Roman" pitchFamily="18" charset="0"/>
                          <a:cs typeface="Times New Roman" pitchFamily="18" charset="0"/>
                        </a:rPr>
                        <a:t>Title:</a:t>
                      </a:r>
                      <a:r>
                        <a:rPr lang="en-US" sz="1400" i="0" dirty="0">
                          <a:latin typeface="Times New Roman" pitchFamily="18" charset="0"/>
                          <a:cs typeface="Times New Roman" pitchFamily="18" charset="0"/>
                        </a:rPr>
                        <a:t> Survey of Voice Pathology Systems Using </a:t>
                      </a:r>
                      <a:r>
                        <a:rPr lang="en-US" sz="1400" i="0" dirty="0" err="1">
                          <a:latin typeface="Times New Roman" pitchFamily="18" charset="0"/>
                          <a:cs typeface="Times New Roman" pitchFamily="18" charset="0"/>
                        </a:rPr>
                        <a:t>IoT</a:t>
                      </a:r>
                      <a:r>
                        <a:rPr lang="en-US" sz="1400" i="0" dirty="0">
                          <a:latin typeface="Times New Roman" pitchFamily="18" charset="0"/>
                          <a:cs typeface="Times New Roman" pitchFamily="18" charset="0"/>
                        </a:rPr>
                        <a:t> &amp; ML</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Authors:</a:t>
                      </a:r>
                      <a:r>
                        <a:rPr lang="en-US" sz="1400" i="0" dirty="0">
                          <a:latin typeface="Times New Roman" pitchFamily="18" charset="0"/>
                          <a:cs typeface="Times New Roman" pitchFamily="18" charset="0"/>
                        </a:rPr>
                        <a:t> Patel &amp; Singh</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Year:</a:t>
                      </a:r>
                      <a:r>
                        <a:rPr lang="en-US" sz="1400" i="0" dirty="0">
                          <a:latin typeface="Times New Roman" pitchFamily="18" charset="0"/>
                          <a:cs typeface="Times New Roman" pitchFamily="18" charset="0"/>
                        </a:rPr>
                        <a:t> 2020</a:t>
                      </a:r>
                    </a:p>
                  </a:txBody>
                  <a:tcP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CF4"/>
                    </a:solidFill>
                  </a:tcPr>
                </a:tc>
                <a:tc>
                  <a:txBody>
                    <a:bodyPr/>
                    <a:lstStyle/>
                    <a:p>
                      <a:pPr marL="0" indent="0" algn="l">
                        <a:buFont typeface="Arial" pitchFamily="34" charset="0"/>
                        <a:buNone/>
                      </a:pPr>
                      <a:r>
                        <a:rPr lang="en-US" sz="1400" i="0" dirty="0">
                          <a:latin typeface="Times New Roman" panose="02020603050405020304" pitchFamily="18" charset="0"/>
                          <a:cs typeface="Times New Roman" panose="02020603050405020304" pitchFamily="18" charset="0"/>
                        </a:rPr>
                        <a:t>Reviewed </a:t>
                      </a:r>
                      <a:r>
                        <a:rPr lang="en-US" sz="1400" i="0" dirty="0" err="1">
                          <a:latin typeface="Times New Roman" panose="02020603050405020304" pitchFamily="18" charset="0"/>
                          <a:cs typeface="Times New Roman" panose="02020603050405020304" pitchFamily="18" charset="0"/>
                        </a:rPr>
                        <a:t>IoT</a:t>
                      </a:r>
                      <a:r>
                        <a:rPr lang="en-US" sz="1400" i="0" dirty="0">
                          <a:latin typeface="Times New Roman" panose="02020603050405020304" pitchFamily="18" charset="0"/>
                          <a:cs typeface="Times New Roman" panose="02020603050405020304" pitchFamily="18" charset="0"/>
                        </a:rPr>
                        <a:t>–ML approaches for voice pathology detection &amp; remote diagnosis.</a:t>
                      </a:r>
                    </a:p>
                  </a:txBody>
                  <a:tcPr>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CF4"/>
                    </a:solidFill>
                  </a:tcPr>
                </a:tc>
                <a:tc>
                  <a:txBody>
                    <a:bodyPr/>
                    <a:lstStyle/>
                    <a:p>
                      <a:pPr marL="0" indent="0" algn="l">
                        <a:buFont typeface="Arial" pitchFamily="34" charset="0"/>
                        <a:buNone/>
                      </a:pPr>
                      <a:r>
                        <a:rPr lang="en-US" sz="1400" i="0" dirty="0">
                          <a:latin typeface="Times New Roman" panose="02020603050405020304" pitchFamily="18" charset="0"/>
                          <a:cs typeface="Times New Roman" panose="02020603050405020304" pitchFamily="18" charset="0"/>
                        </a:rPr>
                        <a:t>Distinguishes only healthy </a:t>
                      </a:r>
                      <a:r>
                        <a:rPr lang="en-US" sz="1400" i="0" dirty="0" err="1">
                          <a:latin typeface="Times New Roman" panose="02020603050405020304" pitchFamily="18" charset="0"/>
                          <a:cs typeface="Times New Roman" panose="02020603050405020304" pitchFamily="18" charset="0"/>
                        </a:rPr>
                        <a:t>vs</a:t>
                      </a:r>
                      <a:r>
                        <a:rPr lang="en-US" sz="1400" i="0" dirty="0">
                          <a:latin typeface="Times New Roman" panose="02020603050405020304" pitchFamily="18" charset="0"/>
                          <a:cs typeface="Times New Roman" panose="02020603050405020304" pitchFamily="18" charset="0"/>
                        </a:rPr>
                        <a:t> pathological; needs bigger datasets; low accuracy with noisy data.</a:t>
                      </a:r>
                    </a:p>
                  </a:txBody>
                  <a:tcP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extLst>
                  <a:ext uri="{0D108BD9-81ED-4DB2-BD59-A6C34878D82A}">
                    <a16:rowId xmlns:a16="http://schemas.microsoft.com/office/drawing/2014/main" val="10002"/>
                  </a:ext>
                </a:extLst>
              </a:tr>
              <a:tr h="1123467">
                <a:tc>
                  <a:txBody>
                    <a:bodyPr/>
                    <a:lstStyle/>
                    <a:p>
                      <a:pPr algn="ctr">
                        <a:lnSpc>
                          <a:spcPct val="100000"/>
                        </a:lnSpc>
                        <a:spcBef>
                          <a:spcPts val="150"/>
                        </a:spcBef>
                      </a:pPr>
                      <a:endParaRPr lang="en-US" sz="1400" b="0" spc="-25">
                        <a:latin typeface="Times New Roman" panose="02020603050405020304" pitchFamily="18" charset="0"/>
                        <a:cs typeface="Times New Roman" panose="02020603050405020304" pitchFamily="18" charset="0"/>
                      </a:endParaRPr>
                    </a:p>
                    <a:p>
                      <a:pPr algn="ctr">
                        <a:lnSpc>
                          <a:spcPct val="100000"/>
                        </a:lnSpc>
                        <a:spcBef>
                          <a:spcPts val="150"/>
                        </a:spcBef>
                      </a:pPr>
                      <a:r>
                        <a:rPr sz="1400" b="0" spc="-25">
                          <a:latin typeface="Times New Roman" panose="02020603050405020304" pitchFamily="18" charset="0"/>
                          <a:cs typeface="Times New Roman" panose="02020603050405020304" pitchFamily="18" charset="0"/>
                        </a:rPr>
                        <a:t>3.</a:t>
                      </a:r>
                      <a:endParaRPr sz="1400" b="0" dirty="0">
                        <a:latin typeface="Times New Roman" panose="02020603050405020304" pitchFamily="18" charset="0"/>
                        <a:cs typeface="Times New Roman" panose="02020603050405020304" pitchFamily="18" charset="0"/>
                      </a:endParaRPr>
                    </a:p>
                  </a:txBody>
                  <a:tcPr marL="0" marR="0" marT="1905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CED7E7"/>
                    </a:solidFill>
                  </a:tcPr>
                </a:tc>
                <a:tc>
                  <a:txBody>
                    <a:bodyPr/>
                    <a:lstStyle/>
                    <a:p>
                      <a:pPr algn="l"/>
                      <a:r>
                        <a:rPr lang="en-US" sz="1400" b="1" i="0" dirty="0">
                          <a:latin typeface="Times New Roman" pitchFamily="18" charset="0"/>
                          <a:cs typeface="Times New Roman" pitchFamily="18" charset="0"/>
                        </a:rPr>
                        <a:t>Title:</a:t>
                      </a:r>
                      <a:r>
                        <a:rPr lang="en-US" sz="1400" i="0" dirty="0">
                          <a:latin typeface="Times New Roman" pitchFamily="18" charset="0"/>
                          <a:cs typeface="Times New Roman" pitchFamily="18" charset="0"/>
                        </a:rPr>
                        <a:t> A Systematic Review of Hand Gesture Recognition </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Authors:</a:t>
                      </a:r>
                      <a:r>
                        <a:rPr lang="en-US" sz="1400" i="0" dirty="0">
                          <a:latin typeface="Times New Roman" pitchFamily="18" charset="0"/>
                          <a:cs typeface="Times New Roman" pitchFamily="18" charset="0"/>
                        </a:rPr>
                        <a:t> Kumar et al.</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Year:</a:t>
                      </a:r>
                      <a:r>
                        <a:rPr lang="en-US" sz="1400" i="0" dirty="0">
                          <a:latin typeface="Times New Roman" pitchFamily="18" charset="0"/>
                          <a:cs typeface="Times New Roman" pitchFamily="18" charset="0"/>
                        </a:rPr>
                        <a:t> 2024</a:t>
                      </a:r>
                    </a:p>
                  </a:txBody>
                  <a:tcPr anchor="ctr">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CED7E7"/>
                    </a:solidFill>
                  </a:tcPr>
                </a:tc>
                <a:tc>
                  <a:txBody>
                    <a:bodyPr/>
                    <a:lstStyle/>
                    <a:p>
                      <a:pPr algn="l"/>
                      <a:r>
                        <a:rPr lang="en-US" sz="1400" i="0" dirty="0">
                          <a:latin typeface="Times New Roman" panose="02020603050405020304" pitchFamily="18" charset="0"/>
                          <a:cs typeface="Times New Roman" panose="02020603050405020304" pitchFamily="18" charset="0"/>
                        </a:rPr>
                        <a:t>Reviews advances in vision-, sensor-, and hybrid-based hand gesture recognition, focusing on sign language accuracy, feature extraction, and trends.</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a:solidFill>
                        <a:srgbClr val="FFFFFF"/>
                      </a:solidFill>
                      <a:prstDash val="solid"/>
                    </a:lnB>
                    <a:solidFill>
                      <a:srgbClr val="CED7E7"/>
                    </a:solidFill>
                  </a:tcPr>
                </a:tc>
                <a:tc>
                  <a:txBody>
                    <a:bodyPr/>
                    <a:lstStyle/>
                    <a:p>
                      <a:pPr algn="l"/>
                      <a:r>
                        <a:rPr lang="en-US" sz="1400" i="0" dirty="0">
                          <a:latin typeface="Times New Roman" panose="02020603050405020304" pitchFamily="18" charset="0"/>
                          <a:cs typeface="Times New Roman" panose="02020603050405020304" pitchFamily="18" charset="0"/>
                        </a:rPr>
                        <a:t>Relies on current data, needs high-quality sensors &amp; stable internet; privacy concerns with continuous monitoring.</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CED7E7"/>
                    </a:solidFill>
                  </a:tcPr>
                </a:tc>
                <a:extLst>
                  <a:ext uri="{0D108BD9-81ED-4DB2-BD59-A6C34878D82A}">
                    <a16:rowId xmlns:a16="http://schemas.microsoft.com/office/drawing/2014/main" val="10003"/>
                  </a:ext>
                </a:extLst>
              </a:tr>
              <a:tr h="1086333">
                <a:tc>
                  <a:txBody>
                    <a:bodyPr/>
                    <a:lstStyle/>
                    <a:p>
                      <a:pPr algn="ctr">
                        <a:lnSpc>
                          <a:spcPct val="100000"/>
                        </a:lnSpc>
                        <a:spcBef>
                          <a:spcPts val="170"/>
                        </a:spcBef>
                      </a:pPr>
                      <a:endParaRPr lang="en-US" sz="1400" b="0" spc="-50">
                        <a:latin typeface="Times New Roman" panose="02020603050405020304" pitchFamily="18" charset="0"/>
                        <a:cs typeface="Times New Roman" panose="02020603050405020304" pitchFamily="18" charset="0"/>
                      </a:endParaRPr>
                    </a:p>
                    <a:p>
                      <a:pPr algn="ctr">
                        <a:lnSpc>
                          <a:spcPct val="100000"/>
                        </a:lnSpc>
                        <a:spcBef>
                          <a:spcPts val="170"/>
                        </a:spcBef>
                      </a:pPr>
                      <a:r>
                        <a:rPr sz="1400" b="0" spc="-50">
                          <a:latin typeface="Times New Roman" panose="02020603050405020304" pitchFamily="18" charset="0"/>
                          <a:cs typeface="Times New Roman" panose="02020603050405020304" pitchFamily="18" charset="0"/>
                        </a:rPr>
                        <a:t>4</a:t>
                      </a:r>
                      <a:r>
                        <a:rPr lang="en-US" sz="1400" b="0" spc="-50">
                          <a:latin typeface="Times New Roman" panose="02020603050405020304" pitchFamily="18" charset="0"/>
                          <a:cs typeface="Times New Roman" panose="02020603050405020304" pitchFamily="18" charset="0"/>
                        </a:rPr>
                        <a:t>.</a:t>
                      </a:r>
                      <a:endParaRPr sz="1400" b="0" dirty="0">
                        <a:latin typeface="Times New Roman" panose="02020603050405020304" pitchFamily="18" charset="0"/>
                        <a:cs typeface="Times New Roman" panose="02020603050405020304" pitchFamily="18" charset="0"/>
                      </a:endParaRPr>
                    </a:p>
                  </a:txBody>
                  <a:tcPr marL="0" marR="0" marT="2159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CED7E7"/>
                    </a:solidFill>
                  </a:tcPr>
                </a:tc>
                <a:tc>
                  <a:txBody>
                    <a:bodyPr/>
                    <a:lstStyle/>
                    <a:p>
                      <a:pPr algn="l"/>
                      <a:r>
                        <a:rPr lang="en-US" sz="1400" b="1" i="0" dirty="0">
                          <a:latin typeface="Times New Roman" pitchFamily="18" charset="0"/>
                          <a:cs typeface="Times New Roman" pitchFamily="18" charset="0"/>
                        </a:rPr>
                        <a:t>Title:</a:t>
                      </a:r>
                      <a:r>
                        <a:rPr lang="en-US" sz="1400" i="0" dirty="0">
                          <a:latin typeface="Times New Roman" pitchFamily="18" charset="0"/>
                          <a:cs typeface="Times New Roman" pitchFamily="18" charset="0"/>
                        </a:rPr>
                        <a:t> Facial &amp; Vocal Expression-Based Student Stress Monitoring</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Authors:</a:t>
                      </a:r>
                      <a:r>
                        <a:rPr lang="en-US" sz="1400" i="0" dirty="0">
                          <a:latin typeface="Times New Roman" pitchFamily="18" charset="0"/>
                          <a:cs typeface="Times New Roman" pitchFamily="18" charset="0"/>
                        </a:rPr>
                        <a:t> Jain &amp; </a:t>
                      </a:r>
                      <a:r>
                        <a:rPr lang="en-US" sz="1400" i="0" dirty="0" err="1">
                          <a:latin typeface="Times New Roman" pitchFamily="18" charset="0"/>
                          <a:cs typeface="Times New Roman" pitchFamily="18" charset="0"/>
                        </a:rPr>
                        <a:t>Rao</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Year:</a:t>
                      </a:r>
                      <a:r>
                        <a:rPr lang="en-US" sz="1400" i="0" dirty="0">
                          <a:latin typeface="Times New Roman" pitchFamily="18" charset="0"/>
                          <a:cs typeface="Times New Roman" pitchFamily="18" charset="0"/>
                        </a:rPr>
                        <a:t> 2022</a:t>
                      </a:r>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CED7E7"/>
                    </a:solidFill>
                  </a:tcPr>
                </a:tc>
                <a:tc>
                  <a:txBody>
                    <a:bodyPr/>
                    <a:lstStyle/>
                    <a:p>
                      <a:pPr algn="l"/>
                      <a:r>
                        <a:rPr lang="en-US" sz="1400" i="0" dirty="0">
                          <a:latin typeface="Times New Roman" panose="02020603050405020304" pitchFamily="18" charset="0"/>
                          <a:cs typeface="Times New Roman" panose="02020603050405020304" pitchFamily="18" charset="0"/>
                        </a:rPr>
                        <a:t>Built </a:t>
                      </a:r>
                      <a:r>
                        <a:rPr lang="en-US" sz="1400" i="0" dirty="0" err="1">
                          <a:latin typeface="Times New Roman" panose="02020603050405020304" pitchFamily="18" charset="0"/>
                          <a:cs typeface="Times New Roman" panose="02020603050405020304" pitchFamily="18" charset="0"/>
                        </a:rPr>
                        <a:t>IoT</a:t>
                      </a:r>
                      <a:r>
                        <a:rPr lang="en-US" sz="1400" i="0" dirty="0">
                          <a:latin typeface="Times New Roman" panose="02020603050405020304" pitchFamily="18" charset="0"/>
                          <a:cs typeface="Times New Roman" panose="02020603050405020304" pitchFamily="18" charset="0"/>
                        </a:rPr>
                        <a:t>–Fog–Cloud system for real-time stress detection using facial, speech &amp; text analysis with deep learning.</a:t>
                      </a:r>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CED7E7"/>
                    </a:solidFill>
                  </a:tcPr>
                </a:tc>
                <a:tc>
                  <a:txBody>
                    <a:bodyPr/>
                    <a:lstStyle/>
                    <a:p>
                      <a:pPr algn="l"/>
                      <a:r>
                        <a:rPr lang="en-US" sz="1400" i="0" dirty="0">
                          <a:latin typeface="Times New Roman" panose="02020603050405020304" pitchFamily="18" charset="0"/>
                          <a:cs typeface="Times New Roman" panose="02020603050405020304" pitchFamily="18" charset="0"/>
                        </a:rPr>
                        <a:t>Depends on data, sensor quality &amp; internet; privacy risks from continuous monitoring. </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D7E7"/>
                    </a:solidFill>
                  </a:tcPr>
                </a:tc>
                <a:extLst>
                  <a:ext uri="{0D108BD9-81ED-4DB2-BD59-A6C34878D82A}">
                    <a16:rowId xmlns:a16="http://schemas.microsoft.com/office/drawing/2014/main" val="10004"/>
                  </a:ext>
                </a:extLst>
              </a:tr>
            </a:tbl>
          </a:graphicData>
        </a:graphic>
      </p:graphicFrame>
      <p:sp>
        <p:nvSpPr>
          <p:cNvPr id="9" name="object 9">
            <a:extLst>
              <a:ext uri="{FF2B5EF4-FFF2-40B4-BE49-F238E27FC236}">
                <a16:creationId xmlns:a16="http://schemas.microsoft.com/office/drawing/2014/main" id="{E1E464BA-2CA8-1108-C35B-659FBAA6C5EA}"/>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5062897" y="6558216"/>
            <a:ext cx="2063750" cy="177800"/>
          </a:xfrm>
          <a:prstGeom prst="rect">
            <a:avLst/>
          </a:prstGeom>
        </p:spPr>
        <p:txBody>
          <a:bodyPr vert="horz" wrap="square" lIns="0" tIns="0" rIns="0" bIns="0" rtlCol="0">
            <a:spAutoFit/>
          </a:bodyPr>
          <a:lstStyle/>
          <a:p>
            <a:pPr marL="12700">
              <a:lnSpc>
                <a:spcPts val="1240"/>
              </a:lnSpc>
            </a:pPr>
            <a:r>
              <a:rPr sz="1200" spc="-10" dirty="0">
                <a:solidFill>
                  <a:srgbClr val="888888"/>
                </a:solidFill>
                <a:latin typeface="Calibri"/>
                <a:cs typeface="Calibri"/>
              </a:rPr>
              <a:t>Jerusalem College </a:t>
            </a:r>
            <a:r>
              <a:rPr sz="1200" dirty="0">
                <a:solidFill>
                  <a:srgbClr val="888888"/>
                </a:solidFill>
                <a:latin typeface="Calibri"/>
                <a:cs typeface="Calibri"/>
              </a:rPr>
              <a:t>of</a:t>
            </a:r>
            <a:r>
              <a:rPr sz="1200" spc="-5" dirty="0">
                <a:solidFill>
                  <a:srgbClr val="888888"/>
                </a:solidFill>
                <a:latin typeface="Calibri"/>
                <a:cs typeface="Calibri"/>
              </a:rPr>
              <a:t> </a:t>
            </a:r>
            <a:r>
              <a:rPr sz="1200" spc="-10" dirty="0">
                <a:solidFill>
                  <a:srgbClr val="888888"/>
                </a:solidFill>
                <a:latin typeface="Calibri"/>
                <a:cs typeface="Calibri"/>
              </a:rPr>
              <a:t>Engineering</a:t>
            </a:r>
            <a:endParaRPr sz="1200">
              <a:latin typeface="Calibri"/>
              <a:cs typeface="Calibri"/>
            </a:endParaRPr>
          </a:p>
        </p:txBody>
      </p:sp>
      <p:sp>
        <p:nvSpPr>
          <p:cNvPr id="2" name="object 2"/>
          <p:cNvSpPr txBox="1"/>
          <p:nvPr/>
        </p:nvSpPr>
        <p:spPr>
          <a:xfrm>
            <a:off x="11419433" y="6479476"/>
            <a:ext cx="77470" cy="146450"/>
          </a:xfrm>
          <a:prstGeom prst="rect">
            <a:avLst/>
          </a:prstGeom>
        </p:spPr>
        <p:txBody>
          <a:bodyPr vert="horz" wrap="square" lIns="0" tIns="0" rIns="0" bIns="0" rtlCol="0">
            <a:spAutoFit/>
          </a:bodyPr>
          <a:lstStyle/>
          <a:p>
            <a:pPr>
              <a:lnSpc>
                <a:spcPts val="1140"/>
              </a:lnSpc>
            </a:pPr>
            <a:r>
              <a:rPr lang="en-US" sz="1200" spc="-60" dirty="0">
                <a:solidFill>
                  <a:srgbClr val="888888"/>
                </a:solidFill>
                <a:latin typeface="Calibri"/>
                <a:cs typeface="Calibri"/>
              </a:rPr>
              <a:t>6</a:t>
            </a:r>
            <a:endParaRPr sz="1200" dirty="0">
              <a:latin typeface="Calibri"/>
              <a:cs typeface="Calibri"/>
            </a:endParaRPr>
          </a:p>
        </p:txBody>
      </p:sp>
      <p:sp>
        <p:nvSpPr>
          <p:cNvPr id="3" name="object 3"/>
          <p:cNvSpPr txBox="1"/>
          <p:nvPr/>
        </p:nvSpPr>
        <p:spPr>
          <a:xfrm>
            <a:off x="5507496" y="6388036"/>
            <a:ext cx="548005" cy="152400"/>
          </a:xfrm>
          <a:prstGeom prst="rect">
            <a:avLst/>
          </a:prstGeom>
        </p:spPr>
        <p:txBody>
          <a:bodyPr vert="horz" wrap="square" lIns="0" tIns="0" rIns="0" bIns="0" rtlCol="0">
            <a:spAutoFit/>
          </a:bodyPr>
          <a:lstStyle/>
          <a:p>
            <a:pPr>
              <a:lnSpc>
                <a:spcPts val="1140"/>
              </a:lnSpc>
            </a:pPr>
            <a:r>
              <a:rPr sz="1200" spc="-10" dirty="0">
                <a:solidFill>
                  <a:srgbClr val="888888"/>
                </a:solidFill>
                <a:latin typeface="Calibri"/>
                <a:cs typeface="Calibri"/>
              </a:rPr>
              <a:t>Departm</a:t>
            </a:r>
            <a:endParaRPr sz="1200">
              <a:latin typeface="Calibri"/>
              <a:cs typeface="Calibri"/>
            </a:endParaRPr>
          </a:p>
        </p:txBody>
      </p:sp>
      <p:sp>
        <p:nvSpPr>
          <p:cNvPr id="4" name="object 4"/>
          <p:cNvSpPr txBox="1"/>
          <p:nvPr/>
        </p:nvSpPr>
        <p:spPr>
          <a:xfrm>
            <a:off x="6055052" y="6388036"/>
            <a:ext cx="628015" cy="152400"/>
          </a:xfrm>
          <a:prstGeom prst="rect">
            <a:avLst/>
          </a:prstGeom>
        </p:spPr>
        <p:txBody>
          <a:bodyPr vert="horz" wrap="square" lIns="0" tIns="0" rIns="0" bIns="0" rtlCol="0">
            <a:spAutoFit/>
          </a:bodyPr>
          <a:lstStyle/>
          <a:p>
            <a:pPr>
              <a:lnSpc>
                <a:spcPts val="1140"/>
              </a:lnSpc>
            </a:pPr>
            <a:r>
              <a:rPr sz="1200" dirty="0">
                <a:solidFill>
                  <a:srgbClr val="888888"/>
                </a:solidFill>
                <a:latin typeface="Calibri"/>
                <a:cs typeface="Calibri"/>
              </a:rPr>
              <a:t>ent</a:t>
            </a:r>
            <a:r>
              <a:rPr sz="1200" spc="-30" dirty="0">
                <a:solidFill>
                  <a:srgbClr val="888888"/>
                </a:solidFill>
                <a:latin typeface="Calibri"/>
                <a:cs typeface="Calibri"/>
              </a:rPr>
              <a:t> </a:t>
            </a:r>
            <a:r>
              <a:rPr sz="1200" dirty="0">
                <a:solidFill>
                  <a:srgbClr val="888888"/>
                </a:solidFill>
                <a:latin typeface="Calibri"/>
                <a:cs typeface="Calibri"/>
              </a:rPr>
              <a:t>of</a:t>
            </a:r>
            <a:r>
              <a:rPr sz="1200" spc="-15" dirty="0">
                <a:solidFill>
                  <a:srgbClr val="888888"/>
                </a:solidFill>
                <a:latin typeface="Calibri"/>
                <a:cs typeface="Calibri"/>
              </a:rPr>
              <a:t> </a:t>
            </a:r>
            <a:r>
              <a:rPr sz="1200" spc="-25" dirty="0">
                <a:solidFill>
                  <a:srgbClr val="888888"/>
                </a:solidFill>
                <a:latin typeface="Calibri"/>
                <a:cs typeface="Calibri"/>
              </a:rPr>
              <a:t>CSE</a:t>
            </a:r>
            <a:endParaRPr sz="1200">
              <a:latin typeface="Calibri"/>
              <a:cs typeface="Calibri"/>
            </a:endParaRPr>
          </a:p>
        </p:txBody>
      </p:sp>
      <p:sp>
        <p:nvSpPr>
          <p:cNvPr id="6" name="object 6"/>
          <p:cNvSpPr txBox="1">
            <a:spLocks noGrp="1"/>
          </p:cNvSpPr>
          <p:nvPr>
            <p:ph type="title"/>
          </p:nvPr>
        </p:nvSpPr>
        <p:spPr>
          <a:xfrm>
            <a:off x="608372" y="154934"/>
            <a:ext cx="10972800" cy="582930"/>
          </a:xfrm>
          <a:prstGeom prst="rect">
            <a:avLst/>
          </a:prstGeom>
          <a:solidFill>
            <a:srgbClr val="17365D"/>
          </a:solidFill>
        </p:spPr>
        <p:txBody>
          <a:bodyPr vert="horz" wrap="square" lIns="0" tIns="0" rIns="0" bIns="0" rtlCol="0">
            <a:spAutoFit/>
          </a:bodyPr>
          <a:lstStyle/>
          <a:p>
            <a:pPr algn="ctr">
              <a:lnSpc>
                <a:spcPts val="4310"/>
              </a:lnSpc>
            </a:pPr>
            <a:r>
              <a:rPr b="0" spc="-10" dirty="0">
                <a:latin typeface="Times New Roman"/>
                <a:cs typeface="Times New Roman"/>
              </a:rPr>
              <a:t>LITERATURE</a:t>
            </a:r>
            <a:r>
              <a:rPr b="0" spc="-175" dirty="0">
                <a:latin typeface="Times New Roman"/>
                <a:cs typeface="Times New Roman"/>
              </a:rPr>
              <a:t> </a:t>
            </a:r>
            <a:r>
              <a:rPr b="0" spc="-10" dirty="0">
                <a:latin typeface="Times New Roman"/>
                <a:cs typeface="Times New Roman"/>
              </a:rPr>
              <a:t>SURVEY</a:t>
            </a:r>
          </a:p>
        </p:txBody>
      </p:sp>
      <p:graphicFrame>
        <p:nvGraphicFramePr>
          <p:cNvPr id="9" name="Table 8"/>
          <p:cNvGraphicFramePr>
            <a:graphicFrameLocks noGrp="1"/>
          </p:cNvGraphicFramePr>
          <p:nvPr>
            <p:extLst>
              <p:ext uri="{D42A27DB-BD31-4B8C-83A1-F6EECF244321}">
                <p14:modId xmlns:p14="http://schemas.microsoft.com/office/powerpoint/2010/main" val="3127913444"/>
              </p:ext>
            </p:extLst>
          </p:nvPr>
        </p:nvGraphicFramePr>
        <p:xfrm>
          <a:off x="586601" y="890732"/>
          <a:ext cx="11053801" cy="5458698"/>
        </p:xfrm>
        <a:graphic>
          <a:graphicData uri="http://schemas.openxmlformats.org/drawingml/2006/table">
            <a:tbl>
              <a:tblPr/>
              <a:tblGrid>
                <a:gridCol w="974873">
                  <a:extLst>
                    <a:ext uri="{9D8B030D-6E8A-4147-A177-3AD203B41FA5}">
                      <a16:colId xmlns:a16="http://schemas.microsoft.com/office/drawing/2014/main" val="20000"/>
                    </a:ext>
                  </a:extLst>
                </a:gridCol>
                <a:gridCol w="3391526">
                  <a:extLst>
                    <a:ext uri="{9D8B030D-6E8A-4147-A177-3AD203B41FA5}">
                      <a16:colId xmlns:a16="http://schemas.microsoft.com/office/drawing/2014/main" val="20001"/>
                    </a:ext>
                  </a:extLst>
                </a:gridCol>
                <a:gridCol w="3847741">
                  <a:extLst>
                    <a:ext uri="{9D8B030D-6E8A-4147-A177-3AD203B41FA5}">
                      <a16:colId xmlns:a16="http://schemas.microsoft.com/office/drawing/2014/main" val="20002"/>
                    </a:ext>
                  </a:extLst>
                </a:gridCol>
                <a:gridCol w="2839661">
                  <a:extLst>
                    <a:ext uri="{9D8B030D-6E8A-4147-A177-3AD203B41FA5}">
                      <a16:colId xmlns:a16="http://schemas.microsoft.com/office/drawing/2014/main" val="20003"/>
                    </a:ext>
                  </a:extLst>
                </a:gridCol>
              </a:tblGrid>
              <a:tr h="965155">
                <a:tc>
                  <a:txBody>
                    <a:bodyPr/>
                    <a:lstStyle/>
                    <a:p>
                      <a:pPr algn="ctr" rtl="0" fontAlgn="t">
                        <a:spcBef>
                          <a:spcPts val="0"/>
                        </a:spcBef>
                        <a:spcAft>
                          <a:spcPts val="0"/>
                        </a:spcAft>
                      </a:pPr>
                      <a:endParaRPr lang="en-IN" sz="1800" b="1" i="0" u="none" strike="noStrike" dirty="0">
                        <a:solidFill>
                          <a:srgbClr val="FFFFFF"/>
                        </a:solidFill>
                        <a:effectLst/>
                        <a:latin typeface="Times New Roman" panose="02020603050405020304" pitchFamily="18" charset="0"/>
                        <a:cs typeface="Times New Roman" panose="02020603050405020304" pitchFamily="18" charset="0"/>
                      </a:endParaRPr>
                    </a:p>
                    <a:p>
                      <a:pPr algn="ctr" rtl="0" fontAlgn="t">
                        <a:spcBef>
                          <a:spcPts val="0"/>
                        </a:spcBef>
                        <a:spcAft>
                          <a:spcPts val="0"/>
                        </a:spcAft>
                      </a:pPr>
                      <a:r>
                        <a:rPr lang="en-IN" sz="1800" b="1" i="0" u="none" strike="noStrike" dirty="0" err="1">
                          <a:solidFill>
                            <a:srgbClr val="FFFFFF"/>
                          </a:solidFill>
                          <a:effectLst/>
                          <a:latin typeface="Times New Roman" panose="02020603050405020304" pitchFamily="18" charset="0"/>
                          <a:cs typeface="Times New Roman" panose="02020603050405020304" pitchFamily="18" charset="0"/>
                        </a:rPr>
                        <a:t>Sl.No</a:t>
                      </a:r>
                      <a:r>
                        <a:rPr lang="en-IN" sz="1800" b="1" i="0" u="none" strike="noStrike" dirty="0">
                          <a:solidFill>
                            <a:srgbClr val="FFFFFF"/>
                          </a:solidFill>
                          <a:effectLst/>
                          <a:latin typeface="Times New Roman" panose="02020603050405020304" pitchFamily="18" charset="0"/>
                          <a:cs typeface="Times New Roman" panose="02020603050405020304" pitchFamily="18" charset="0"/>
                        </a:rPr>
                        <a:t>.</a:t>
                      </a:r>
                      <a:endParaRPr lang="en-IN" sz="1800" dirty="0">
                        <a:effectLst/>
                        <a:latin typeface="Times New Roman" panose="02020603050405020304" pitchFamily="18" charset="0"/>
                        <a:cs typeface="Times New Roman" panose="02020603050405020304" pitchFamily="18" charset="0"/>
                      </a:endParaRP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F81BD"/>
                    </a:solidFill>
                  </a:tcPr>
                </a:tc>
                <a:tc>
                  <a:txBody>
                    <a:bodyPr/>
                    <a:lstStyle/>
                    <a:p>
                      <a:pPr algn="ctr" rtl="0" fontAlgn="t">
                        <a:spcBef>
                          <a:spcPts val="0"/>
                        </a:spcBef>
                        <a:spcAft>
                          <a:spcPts val="0"/>
                        </a:spcAft>
                      </a:pPr>
                      <a:endParaRPr lang="en-IN" sz="1800" b="1" i="0" u="none" strike="noStrike" dirty="0">
                        <a:solidFill>
                          <a:srgbClr val="FFFFFF"/>
                        </a:solidFill>
                        <a:effectLst/>
                        <a:latin typeface="Times New Roman" panose="02020603050405020304" pitchFamily="18" charset="0"/>
                        <a:cs typeface="Times New Roman" panose="02020603050405020304" pitchFamily="18" charset="0"/>
                      </a:endParaRPr>
                    </a:p>
                    <a:p>
                      <a:pPr algn="ctr" rtl="0" fontAlgn="t">
                        <a:spcBef>
                          <a:spcPts val="0"/>
                        </a:spcBef>
                        <a:spcAft>
                          <a:spcPts val="0"/>
                        </a:spcAft>
                      </a:pPr>
                      <a:r>
                        <a:rPr lang="en-IN" sz="1800" b="1" i="0" u="none" strike="noStrike" dirty="0">
                          <a:solidFill>
                            <a:srgbClr val="FFFFFF"/>
                          </a:solidFill>
                          <a:effectLst/>
                          <a:latin typeface="Times New Roman" panose="02020603050405020304" pitchFamily="18" charset="0"/>
                          <a:cs typeface="Times New Roman" panose="02020603050405020304" pitchFamily="18" charset="0"/>
                        </a:rPr>
                        <a:t>REFERENCE PAPER </a:t>
                      </a:r>
                      <a:endParaRPr lang="en-IN" sz="1800" dirty="0">
                        <a:effectLst/>
                        <a:latin typeface="Times New Roman" panose="02020603050405020304" pitchFamily="18" charset="0"/>
                        <a:cs typeface="Times New Roman" panose="02020603050405020304" pitchFamily="18" charset="0"/>
                      </a:endParaRP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F81BD"/>
                    </a:solidFill>
                  </a:tcPr>
                </a:tc>
                <a:tc>
                  <a:txBody>
                    <a:bodyPr/>
                    <a:lstStyle/>
                    <a:p>
                      <a:pPr algn="ctr" rtl="0" fontAlgn="t">
                        <a:spcBef>
                          <a:spcPts val="0"/>
                        </a:spcBef>
                        <a:spcAft>
                          <a:spcPts val="0"/>
                        </a:spcAft>
                      </a:pPr>
                      <a:endParaRPr lang="en-US" sz="1800" b="1" i="0" u="none" strike="noStrike" dirty="0">
                        <a:solidFill>
                          <a:srgbClr val="FFFFFF"/>
                        </a:solidFill>
                        <a:effectLst/>
                        <a:latin typeface="Times New Roman" panose="02020603050405020304" pitchFamily="18" charset="0"/>
                        <a:cs typeface="Times New Roman" panose="02020603050405020304" pitchFamily="18" charset="0"/>
                      </a:endParaRPr>
                    </a:p>
                    <a:p>
                      <a:pPr algn="ctr" rtl="0" fontAlgn="t">
                        <a:spcBef>
                          <a:spcPts val="0"/>
                        </a:spcBef>
                        <a:spcAft>
                          <a:spcPts val="0"/>
                        </a:spcAft>
                      </a:pPr>
                      <a:r>
                        <a:rPr lang="en-US" sz="1800" b="1" i="0" u="none" strike="noStrike" dirty="0">
                          <a:solidFill>
                            <a:srgbClr val="FFFFFF"/>
                          </a:solidFill>
                          <a:effectLst/>
                          <a:latin typeface="Times New Roman" panose="02020603050405020304" pitchFamily="18" charset="0"/>
                          <a:cs typeface="Times New Roman" panose="02020603050405020304" pitchFamily="18" charset="0"/>
                        </a:rPr>
                        <a:t>WORK DONE IN REFERENCE PAPER</a:t>
                      </a:r>
                    </a:p>
                    <a:p>
                      <a:pPr algn="ctr" rtl="0" fontAlgn="t">
                        <a:spcBef>
                          <a:spcPts val="0"/>
                        </a:spcBef>
                        <a:spcAft>
                          <a:spcPts val="0"/>
                        </a:spcAft>
                      </a:pPr>
                      <a:endParaRPr lang="en-US" sz="1800" dirty="0">
                        <a:effectLst/>
                        <a:latin typeface="Times New Roman" panose="02020603050405020304" pitchFamily="18" charset="0"/>
                        <a:cs typeface="Times New Roman" panose="02020603050405020304" pitchFamily="18" charset="0"/>
                      </a:endParaRP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F81BD"/>
                    </a:solidFill>
                  </a:tcPr>
                </a:tc>
                <a:tc>
                  <a:txBody>
                    <a:bodyPr/>
                    <a:lstStyle/>
                    <a:p>
                      <a:pPr algn="ctr" rtl="0" fontAlgn="t">
                        <a:spcBef>
                          <a:spcPts val="0"/>
                        </a:spcBef>
                        <a:spcAft>
                          <a:spcPts val="0"/>
                        </a:spcAft>
                      </a:pPr>
                      <a:endParaRPr lang="en-IN" sz="1800" b="1" i="0" u="none" strike="noStrike" dirty="0">
                        <a:solidFill>
                          <a:srgbClr val="FFFFFF"/>
                        </a:solidFill>
                        <a:effectLst/>
                        <a:latin typeface="Times New Roman" panose="02020603050405020304" pitchFamily="18" charset="0"/>
                        <a:cs typeface="Times New Roman" panose="02020603050405020304" pitchFamily="18" charset="0"/>
                      </a:endParaRPr>
                    </a:p>
                    <a:p>
                      <a:pPr algn="ctr" rtl="0" fontAlgn="t">
                        <a:spcBef>
                          <a:spcPts val="0"/>
                        </a:spcBef>
                        <a:spcAft>
                          <a:spcPts val="0"/>
                        </a:spcAft>
                      </a:pPr>
                      <a:r>
                        <a:rPr lang="en-IN" sz="1800" b="1" i="0" u="none" strike="noStrike" dirty="0">
                          <a:solidFill>
                            <a:srgbClr val="FFFFFF"/>
                          </a:solidFill>
                          <a:effectLst/>
                          <a:latin typeface="Times New Roman" panose="02020603050405020304" pitchFamily="18" charset="0"/>
                          <a:cs typeface="Times New Roman" panose="02020603050405020304" pitchFamily="18" charset="0"/>
                        </a:rPr>
                        <a:t>LIMITATIONS / DRAWBACKS</a:t>
                      </a:r>
                      <a:endParaRPr lang="en-IN" sz="1800" dirty="0">
                        <a:effectLst/>
                        <a:latin typeface="Times New Roman" panose="02020603050405020304" pitchFamily="18" charset="0"/>
                        <a:cs typeface="Times New Roman" panose="02020603050405020304" pitchFamily="18" charset="0"/>
                      </a:endParaRP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10000"/>
                  </a:ext>
                </a:extLst>
              </a:tr>
              <a:tr h="1263218">
                <a:tc>
                  <a:txBody>
                    <a:bodyPr/>
                    <a:lstStyle/>
                    <a:p>
                      <a:pPr algn="ctr" rtl="0" fontAlgn="t">
                        <a:spcBef>
                          <a:spcPts val="0"/>
                        </a:spcBef>
                        <a:spcAft>
                          <a:spcPts val="0"/>
                        </a:spcAft>
                      </a:pPr>
                      <a:r>
                        <a:rPr lang="en-US" sz="1400" b="0" i="0" u="none" strike="noStrike" dirty="0">
                          <a:solidFill>
                            <a:schemeClr val="tx1"/>
                          </a:solidFill>
                          <a:effectLst/>
                          <a:latin typeface="Times New Roman" panose="02020603050405020304" pitchFamily="18" charset="0"/>
                          <a:cs typeface="Times New Roman" panose="02020603050405020304" pitchFamily="18" charset="0"/>
                        </a:rPr>
                        <a:t>5.</a:t>
                      </a:r>
                      <a:endParaRPr lang="en-IN" sz="1400" dirty="0">
                        <a:solidFill>
                          <a:schemeClr val="tx1"/>
                        </a:solidFill>
                        <a:effectLst/>
                        <a:latin typeface="Times New Roman" panose="02020603050405020304" pitchFamily="18" charset="0"/>
                        <a:cs typeface="Times New Roman" panose="02020603050405020304" pitchFamily="18" charset="0"/>
                      </a:endParaRP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FD7E7"/>
                    </a:solidFill>
                  </a:tcPr>
                </a:tc>
                <a:tc>
                  <a:txBody>
                    <a:bodyPr/>
                    <a:lstStyle/>
                    <a:p>
                      <a:pPr algn="l"/>
                      <a:r>
                        <a:rPr lang="en-US" sz="1400" b="1" i="0" dirty="0">
                          <a:latin typeface="Times New Roman" pitchFamily="18" charset="0"/>
                          <a:cs typeface="Times New Roman" pitchFamily="18" charset="0"/>
                        </a:rPr>
                        <a:t>Title:</a:t>
                      </a:r>
                      <a:r>
                        <a:rPr lang="en-US" sz="1400" i="0" dirty="0">
                          <a:latin typeface="Times New Roman" pitchFamily="18" charset="0"/>
                          <a:cs typeface="Times New Roman" pitchFamily="18" charset="0"/>
                        </a:rPr>
                        <a:t> Enhancing Object Detection in Assistive Technology for the Visually Impaired: A DETR-Based Approach</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Authors:</a:t>
                      </a:r>
                      <a:r>
                        <a:rPr lang="en-US" sz="1400" i="0" dirty="0">
                          <a:latin typeface="Times New Roman" pitchFamily="18" charset="0"/>
                          <a:cs typeface="Times New Roman" pitchFamily="18" charset="0"/>
                        </a:rPr>
                        <a:t> </a:t>
                      </a:r>
                      <a:r>
                        <a:rPr lang="en-US" sz="1400" i="0" dirty="0" err="1">
                          <a:latin typeface="Times New Roman" pitchFamily="18" charset="0"/>
                          <a:cs typeface="Times New Roman" pitchFamily="18" charset="0"/>
                        </a:rPr>
                        <a:t>Sunnia</a:t>
                      </a:r>
                      <a:r>
                        <a:rPr lang="en-US" sz="1400" i="0" dirty="0">
                          <a:latin typeface="Times New Roman" pitchFamily="18" charset="0"/>
                          <a:cs typeface="Times New Roman" pitchFamily="18" charset="0"/>
                        </a:rPr>
                        <a:t> </a:t>
                      </a:r>
                      <a:r>
                        <a:rPr lang="en-US" sz="1400" i="0" dirty="0" err="1">
                          <a:latin typeface="Times New Roman" pitchFamily="18" charset="0"/>
                          <a:cs typeface="Times New Roman" pitchFamily="18" charset="0"/>
                        </a:rPr>
                        <a:t>Ikram</a:t>
                      </a:r>
                      <a:r>
                        <a:rPr lang="en-US" sz="1400" i="0" dirty="0">
                          <a:latin typeface="Times New Roman" pitchFamily="18" charset="0"/>
                          <a:cs typeface="Times New Roman" pitchFamily="18" charset="0"/>
                        </a:rPr>
                        <a:t> et al.</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Year:</a:t>
                      </a:r>
                      <a:r>
                        <a:rPr lang="en-US" sz="1400" i="0" dirty="0">
                          <a:latin typeface="Times New Roman" pitchFamily="18" charset="0"/>
                          <a:cs typeface="Times New Roman" pitchFamily="18" charset="0"/>
                        </a:rPr>
                        <a:t> 2025</a:t>
                      </a: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FD7E7"/>
                    </a:solidFill>
                  </a:tcPr>
                </a:tc>
                <a:tc>
                  <a:txBody>
                    <a:bodyPr/>
                    <a:lstStyle/>
                    <a:p>
                      <a:pPr algn="l"/>
                      <a:r>
                        <a:rPr lang="en-US" sz="1400" i="0" dirty="0">
                          <a:latin typeface="Times New Roman" pitchFamily="18" charset="0"/>
                          <a:cs typeface="Times New Roman" pitchFamily="18" charset="0"/>
                        </a:rPr>
                        <a:t>Camera-based blind navigation system with YOLOv8/Faster R-CNN/DETR delivering real-time audio feedback; ~2000-image dataset, 20-epoch training, DETR hitting ~98% precision, ~99% confidence at ~40 </a:t>
                      </a:r>
                      <a:r>
                        <a:rPr lang="en-US" sz="1400" i="0" dirty="0" err="1">
                          <a:latin typeface="Times New Roman" pitchFamily="18" charset="0"/>
                          <a:cs typeface="Times New Roman" pitchFamily="18" charset="0"/>
                        </a:rPr>
                        <a:t>ms</a:t>
                      </a:r>
                      <a:r>
                        <a:rPr lang="en-US" sz="1400" i="0" dirty="0">
                          <a:latin typeface="Times New Roman" pitchFamily="18" charset="0"/>
                          <a:cs typeface="Times New Roman" pitchFamily="18" charset="0"/>
                        </a:rPr>
                        <a:t>/frame, optimized for edge via </a:t>
                      </a:r>
                      <a:r>
                        <a:rPr lang="en-US" sz="1400" i="0" dirty="0" err="1">
                          <a:latin typeface="Times New Roman" pitchFamily="18" charset="0"/>
                          <a:cs typeface="Times New Roman" pitchFamily="18" charset="0"/>
                        </a:rPr>
                        <a:t>TFLite</a:t>
                      </a:r>
                      <a:r>
                        <a:rPr lang="en-US" sz="1400" i="0" dirty="0">
                          <a:latin typeface="Times New Roman" pitchFamily="18" charset="0"/>
                          <a:cs typeface="Times New Roman" pitchFamily="18" charset="0"/>
                        </a:rPr>
                        <a:t>.</a:t>
                      </a: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FD7E7"/>
                    </a:solidFill>
                  </a:tcPr>
                </a:tc>
                <a:tc>
                  <a:txBody>
                    <a:bodyPr/>
                    <a:lstStyle/>
                    <a:p>
                      <a:pPr algn="l"/>
                      <a:r>
                        <a:rPr lang="en-US" sz="1400" i="0" dirty="0">
                          <a:latin typeface="Times New Roman" pitchFamily="18" charset="0"/>
                          <a:cs typeface="Times New Roman" pitchFamily="18" charset="0"/>
                        </a:rPr>
                        <a:t>Limited to ~2000-image dataset, requires stable internet, constrained by mobile hardware, mostly tested in controlled outdoor settings, and low-light performance still camera-dependent.</a:t>
                      </a: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FD7E7"/>
                    </a:solidFill>
                  </a:tcPr>
                </a:tc>
                <a:extLst>
                  <a:ext uri="{0D108BD9-81ED-4DB2-BD59-A6C34878D82A}">
                    <a16:rowId xmlns:a16="http://schemas.microsoft.com/office/drawing/2014/main" val="10001"/>
                  </a:ext>
                </a:extLst>
              </a:tr>
              <a:tr h="882651">
                <a:tc>
                  <a:txBody>
                    <a:bodyPr/>
                    <a:lstStyle/>
                    <a:p>
                      <a:pPr algn="ctr" rtl="0" fontAlgn="t">
                        <a:spcBef>
                          <a:spcPts val="0"/>
                        </a:spcBef>
                        <a:spcAft>
                          <a:spcPts val="0"/>
                        </a:spcAft>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6.</a:t>
                      </a:r>
                      <a:endParaRPr lang="en-IN" sz="1400" dirty="0">
                        <a:effectLst/>
                        <a:latin typeface="Times New Roman" panose="02020603050405020304" pitchFamily="18" charset="0"/>
                        <a:cs typeface="Times New Roman" panose="02020603050405020304" pitchFamily="18" charset="0"/>
                      </a:endParaRP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8ECF4"/>
                    </a:solidFill>
                  </a:tcPr>
                </a:tc>
                <a:tc>
                  <a:txBody>
                    <a:bodyPr/>
                    <a:lstStyle/>
                    <a:p>
                      <a:pPr algn="l"/>
                      <a:r>
                        <a:rPr lang="en-US" sz="1400" b="1" i="0" dirty="0">
                          <a:latin typeface="Times New Roman" pitchFamily="18" charset="0"/>
                          <a:cs typeface="Times New Roman" pitchFamily="18" charset="0"/>
                        </a:rPr>
                        <a:t>Title:</a:t>
                      </a:r>
                      <a:r>
                        <a:rPr lang="en-US" sz="1400" i="0" dirty="0">
                          <a:latin typeface="Times New Roman" pitchFamily="18" charset="0"/>
                          <a:cs typeface="Times New Roman" pitchFamily="18" charset="0"/>
                        </a:rPr>
                        <a:t> Hand Gesture Recognition for Multi-Culture Sign Language Using Graph &amp; Deep Learning</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Authors:</a:t>
                      </a:r>
                      <a:r>
                        <a:rPr lang="en-US" sz="1400" i="0" dirty="0">
                          <a:latin typeface="Times New Roman" pitchFamily="18" charset="0"/>
                          <a:cs typeface="Times New Roman" pitchFamily="18" charset="0"/>
                        </a:rPr>
                        <a:t> Abu </a:t>
                      </a:r>
                      <a:r>
                        <a:rPr lang="en-US" sz="1400" i="0" dirty="0" err="1">
                          <a:latin typeface="Times New Roman" pitchFamily="18" charset="0"/>
                          <a:cs typeface="Times New Roman" pitchFamily="18" charset="0"/>
                        </a:rPr>
                        <a:t>Saleh</a:t>
                      </a:r>
                      <a:r>
                        <a:rPr lang="en-US" sz="1400" i="0" dirty="0">
                          <a:latin typeface="Times New Roman" pitchFamily="18" charset="0"/>
                          <a:cs typeface="Times New Roman" pitchFamily="18" charset="0"/>
                        </a:rPr>
                        <a:t> Musa </a:t>
                      </a:r>
                      <a:r>
                        <a:rPr lang="en-US" sz="1400" i="0" dirty="0" err="1">
                          <a:latin typeface="Times New Roman" pitchFamily="18" charset="0"/>
                          <a:cs typeface="Times New Roman" pitchFamily="18" charset="0"/>
                        </a:rPr>
                        <a:t>Miah</a:t>
                      </a:r>
                      <a:r>
                        <a:rPr lang="en-US" sz="1400" i="0" dirty="0">
                          <a:latin typeface="Times New Roman" pitchFamily="18" charset="0"/>
                          <a:cs typeface="Times New Roman" pitchFamily="18" charset="0"/>
                        </a:rPr>
                        <a:t>, M. A. M. </a:t>
                      </a:r>
                      <a:r>
                        <a:rPr lang="en-US" sz="1400" i="0" dirty="0" err="1">
                          <a:latin typeface="Times New Roman" pitchFamily="18" charset="0"/>
                          <a:cs typeface="Times New Roman" pitchFamily="18" charset="0"/>
                        </a:rPr>
                        <a:t>Hasan</a:t>
                      </a:r>
                      <a:r>
                        <a:rPr lang="en-US" sz="1400" i="0" dirty="0">
                          <a:latin typeface="Times New Roman" pitchFamily="18" charset="0"/>
                          <a:cs typeface="Times New Roman" pitchFamily="18" charset="0"/>
                        </a:rPr>
                        <a:t>, Yoichi </a:t>
                      </a:r>
                      <a:r>
                        <a:rPr lang="en-US" sz="1400" i="0" dirty="0" err="1">
                          <a:latin typeface="Times New Roman" pitchFamily="18" charset="0"/>
                          <a:cs typeface="Times New Roman" pitchFamily="18" charset="0"/>
                        </a:rPr>
                        <a:t>Tomioka</a:t>
                      </a:r>
                      <a:r>
                        <a:rPr lang="en-US" sz="1400" i="0" dirty="0">
                          <a:latin typeface="Times New Roman" pitchFamily="18" charset="0"/>
                          <a:cs typeface="Times New Roman" pitchFamily="18" charset="0"/>
                        </a:rPr>
                        <a:t>, </a:t>
                      </a:r>
                      <a:r>
                        <a:rPr lang="en-US" sz="1400" i="0" dirty="0" err="1">
                          <a:latin typeface="Times New Roman" pitchFamily="18" charset="0"/>
                          <a:cs typeface="Times New Roman" pitchFamily="18" charset="0"/>
                        </a:rPr>
                        <a:t>Jungpil</a:t>
                      </a:r>
                      <a:r>
                        <a:rPr lang="en-US" sz="1400" i="0" dirty="0">
                          <a:latin typeface="Times New Roman" pitchFamily="18" charset="0"/>
                          <a:cs typeface="Times New Roman" pitchFamily="18" charset="0"/>
                        </a:rPr>
                        <a:t> Shin</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Year:</a:t>
                      </a:r>
                      <a:r>
                        <a:rPr lang="en-US" sz="1400" i="0" dirty="0">
                          <a:latin typeface="Times New Roman" panose="02020603050405020304" pitchFamily="18" charset="0"/>
                          <a:cs typeface="Times New Roman" panose="02020603050405020304" pitchFamily="18" charset="0"/>
                        </a:rPr>
                        <a:t> 2024.</a:t>
                      </a:r>
                    </a:p>
                  </a:txBody>
                  <a:tcP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8ECF4"/>
                    </a:solidFill>
                  </a:tcPr>
                </a:tc>
                <a:tc>
                  <a:txBody>
                    <a:bodyPr/>
                    <a:lstStyle/>
                    <a:p>
                      <a:pPr marL="0" indent="0" algn="l">
                        <a:buFont typeface="Arial" panose="020B0604020202020204" pitchFamily="34" charset="0"/>
                        <a:buNone/>
                      </a:pPr>
                      <a:r>
                        <a:rPr lang="en-US" sz="1400" i="0" dirty="0">
                          <a:latin typeface="Times New Roman" panose="02020603050405020304" pitchFamily="18" charset="0"/>
                          <a:cs typeface="Times New Roman" panose="02020603050405020304" pitchFamily="18" charset="0"/>
                        </a:rPr>
                        <a:t>Proposes </a:t>
                      </a:r>
                      <a:r>
                        <a:rPr lang="en-US" sz="1400" i="0" dirty="0" err="1">
                          <a:latin typeface="Times New Roman" panose="02020603050405020304" pitchFamily="18" charset="0"/>
                          <a:cs typeface="Times New Roman" panose="02020603050405020304" pitchFamily="18" charset="0"/>
                        </a:rPr>
                        <a:t>GmTC</a:t>
                      </a:r>
                      <a:r>
                        <a:rPr lang="en-US" sz="1400" i="0" dirty="0">
                          <a:latin typeface="Times New Roman" panose="02020603050405020304" pitchFamily="18" charset="0"/>
                          <a:cs typeface="Times New Roman" panose="02020603050405020304" pitchFamily="18" charset="0"/>
                        </a:rPr>
                        <a:t>, a two-stream model using GCNs &amp; attention-based CNNs for multi-culture sign recognition; achieves high accuracy &amp; generalizability.</a:t>
                      </a:r>
                    </a:p>
                  </a:txBody>
                  <a:tcP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8ECF4"/>
                    </a:solidFill>
                  </a:tcPr>
                </a:tc>
                <a:tc>
                  <a:txBody>
                    <a:bodyPr/>
                    <a:lstStyle/>
                    <a:p>
                      <a:pPr marL="0" indent="0" algn="l">
                        <a:buFont typeface="Arial" panose="020B0604020202020204" pitchFamily="34" charset="0"/>
                        <a:buNone/>
                      </a:pPr>
                      <a:r>
                        <a:rPr lang="en-US" sz="1400" i="0" dirty="0">
                          <a:latin typeface="Times New Roman" panose="02020603050405020304" pitchFamily="18" charset="0"/>
                          <a:cs typeface="Times New Roman" panose="02020603050405020304" pitchFamily="18" charset="0"/>
                        </a:rPr>
                        <a:t>Needs large, diverse datasets; high computational cost; challenges with lesser-used languages &amp; real-time scaling.</a:t>
                      </a:r>
                    </a:p>
                  </a:txBody>
                  <a:tcP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8ECF4"/>
                    </a:solidFill>
                  </a:tcPr>
                </a:tc>
                <a:extLst>
                  <a:ext uri="{0D108BD9-81ED-4DB2-BD59-A6C34878D82A}">
                    <a16:rowId xmlns:a16="http://schemas.microsoft.com/office/drawing/2014/main" val="10002"/>
                  </a:ext>
                </a:extLst>
              </a:tr>
              <a:tr h="849629">
                <a:tc>
                  <a:txBody>
                    <a:bodyPr/>
                    <a:lstStyle/>
                    <a:p>
                      <a:pPr algn="ctr" rtl="0" fontAlgn="t">
                        <a:spcBef>
                          <a:spcPts val="0"/>
                        </a:spcBef>
                        <a:spcAft>
                          <a:spcPts val="0"/>
                        </a:spcAft>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7.</a:t>
                      </a:r>
                      <a:endParaRPr lang="en-IN" sz="1400" dirty="0">
                        <a:effectLst/>
                        <a:latin typeface="Times New Roman" panose="02020603050405020304" pitchFamily="18" charset="0"/>
                        <a:cs typeface="Times New Roman" panose="02020603050405020304" pitchFamily="18" charset="0"/>
                      </a:endParaRP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FD7E7"/>
                    </a:solidFill>
                  </a:tcPr>
                </a:tc>
                <a:tc>
                  <a:txBody>
                    <a:bodyPr/>
                    <a:lstStyle/>
                    <a:p>
                      <a:pPr algn="l"/>
                      <a:r>
                        <a:rPr lang="en-US" sz="1400" b="1" i="0" dirty="0">
                          <a:latin typeface="Times New Roman" pitchFamily="18" charset="0"/>
                          <a:cs typeface="Times New Roman" pitchFamily="18" charset="0"/>
                        </a:rPr>
                        <a:t>Title:</a:t>
                      </a:r>
                      <a:r>
                        <a:rPr lang="en-US" sz="1400" i="0" dirty="0">
                          <a:latin typeface="Times New Roman" pitchFamily="18" charset="0"/>
                          <a:cs typeface="Times New Roman" pitchFamily="18" charset="0"/>
                        </a:rPr>
                        <a:t> An Adaptive, Affordable Open-Source Robotic Hand for Deaf &amp; Deaf-Blind communication Using Tactile ASL</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Authors:</a:t>
                      </a:r>
                      <a:r>
                        <a:rPr lang="en-US" sz="1400" i="0" dirty="0">
                          <a:latin typeface="Times New Roman" pitchFamily="18" charset="0"/>
                          <a:cs typeface="Times New Roman" pitchFamily="18" charset="0"/>
                        </a:rPr>
                        <a:t> Samantha Johnson, </a:t>
                      </a:r>
                      <a:r>
                        <a:rPr lang="en-US" sz="1400" i="0" dirty="0" err="1">
                          <a:latin typeface="Times New Roman" pitchFamily="18" charset="0"/>
                          <a:cs typeface="Times New Roman" pitchFamily="18" charset="0"/>
                        </a:rPr>
                        <a:t>Geng</a:t>
                      </a:r>
                      <a:r>
                        <a:rPr lang="en-US" sz="1400" i="0" dirty="0">
                          <a:latin typeface="Times New Roman" pitchFamily="18" charset="0"/>
                          <a:cs typeface="Times New Roman" pitchFamily="18" charset="0"/>
                        </a:rPr>
                        <a:t> </a:t>
                      </a:r>
                      <a:r>
                        <a:rPr lang="en-US" sz="1400" i="0" dirty="0" err="1">
                          <a:latin typeface="Times New Roman" pitchFamily="18" charset="0"/>
                          <a:cs typeface="Times New Roman" pitchFamily="18" charset="0"/>
                        </a:rPr>
                        <a:t>Gao</a:t>
                      </a:r>
                      <a:r>
                        <a:rPr lang="en-US" sz="1400" i="0" dirty="0">
                          <a:latin typeface="Times New Roman" pitchFamily="18" charset="0"/>
                          <a:cs typeface="Times New Roman" pitchFamily="18" charset="0"/>
                        </a:rPr>
                        <a:t>, Todd Johnson, Minas </a:t>
                      </a:r>
                      <a:r>
                        <a:rPr lang="en-US" sz="1400" i="0" dirty="0" err="1">
                          <a:latin typeface="Times New Roman" pitchFamily="18" charset="0"/>
                          <a:cs typeface="Times New Roman" pitchFamily="18" charset="0"/>
                        </a:rPr>
                        <a:t>Liarokapis</a:t>
                      </a:r>
                      <a:r>
                        <a:rPr lang="en-US" sz="1400" i="0" dirty="0">
                          <a:latin typeface="Times New Roman" pitchFamily="18" charset="0"/>
                          <a:cs typeface="Times New Roman" pitchFamily="18" charset="0"/>
                        </a:rPr>
                        <a:t>, Chiara Bellini</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Year:</a:t>
                      </a:r>
                      <a:r>
                        <a:rPr lang="en-US" sz="1400" i="0" dirty="0">
                          <a:latin typeface="Times New Roman" pitchFamily="18" charset="0"/>
                          <a:cs typeface="Times New Roman" pitchFamily="18" charset="0"/>
                        </a:rPr>
                        <a:t> 2021</a:t>
                      </a:r>
                      <a:endParaRPr lang="en-IN" sz="1400" b="0" i="0" dirty="0">
                        <a:solidFill>
                          <a:schemeClr val="tx1"/>
                        </a:solidFill>
                        <a:effectLst/>
                        <a:latin typeface="Times New Roman" panose="02020603050405020304" pitchFamily="18" charset="0"/>
                        <a:ea typeface="+mn-ea"/>
                        <a:cs typeface="Times New Roman" panose="02020603050405020304" pitchFamily="18" charset="0"/>
                      </a:endParaRP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FD7E7"/>
                    </a:solidFill>
                  </a:tcPr>
                </a:tc>
                <a:tc>
                  <a:txBody>
                    <a:bodyPr/>
                    <a:lstStyle/>
                    <a:p>
                      <a:pPr algn="l" rtl="0" fontAlgn="t">
                        <a:spcBef>
                          <a:spcPts val="0"/>
                        </a:spcBef>
                        <a:spcAft>
                          <a:spcPts val="0"/>
                        </a:spcAft>
                      </a:pPr>
                      <a:r>
                        <a:rPr lang="en-US" sz="1400" i="0" dirty="0">
                          <a:latin typeface="Times New Roman" pitchFamily="18" charset="0"/>
                          <a:cs typeface="Times New Roman" pitchFamily="18" charset="0"/>
                        </a:rPr>
                        <a:t>3D-printed tendon-driven 15-DOF robotic hand using ESP32 + cloud API performed full ASL alphabet, tested with deaf/deaf-blind users, achieving ~94.7% visual and ~71.7% tactile accuracy.</a:t>
                      </a:r>
                      <a:endParaRPr lang="en-US" sz="1400" b="0" i="0" dirty="0">
                        <a:effectLst/>
                        <a:latin typeface="Times New Roman" panose="02020603050405020304" pitchFamily="18" charset="0"/>
                        <a:cs typeface="Times New Roman" panose="02020603050405020304" pitchFamily="18" charset="0"/>
                      </a:endParaRP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FD7E7"/>
                    </a:solidFill>
                  </a:tcPr>
                </a:tc>
                <a:tc>
                  <a:txBody>
                    <a:bodyPr/>
                    <a:lstStyle/>
                    <a:p>
                      <a:pPr algn="l" rtl="0" fontAlgn="t">
                        <a:spcBef>
                          <a:spcPts val="0"/>
                        </a:spcBef>
                        <a:spcAft>
                          <a:spcPts val="0"/>
                        </a:spcAft>
                      </a:pPr>
                      <a:r>
                        <a:rPr lang="en-US" sz="1400" i="0" dirty="0">
                          <a:latin typeface="Times New Roman" pitchFamily="18" charset="0"/>
                          <a:cs typeface="Times New Roman" pitchFamily="18" charset="0"/>
                        </a:rPr>
                        <a:t>Only ~71% tactile accuracy, relies on cloud (not standalone), lacks elbow motion, struggles with similar </a:t>
                      </a:r>
                      <a:r>
                        <a:rPr lang="en-US" sz="1400" i="0" dirty="0" err="1">
                          <a:latin typeface="Times New Roman" pitchFamily="18" charset="0"/>
                          <a:cs typeface="Times New Roman" pitchFamily="18" charset="0"/>
                        </a:rPr>
                        <a:t>handshapes</a:t>
                      </a:r>
                      <a:r>
                        <a:rPr lang="en-US" sz="1400" i="0" dirty="0">
                          <a:latin typeface="Times New Roman" pitchFamily="18" charset="0"/>
                          <a:cs typeface="Times New Roman" pitchFamily="18" charset="0"/>
                        </a:rPr>
                        <a:t> (G/Q, U/V), and was tested on a very small participant group.</a:t>
                      </a:r>
                      <a:endParaRPr lang="en-US" sz="1400" i="0" dirty="0">
                        <a:effectLst/>
                        <a:latin typeface="Times New Roman" panose="02020603050405020304" pitchFamily="18" charset="0"/>
                        <a:cs typeface="Times New Roman" panose="02020603050405020304" pitchFamily="18" charset="0"/>
                      </a:endParaRPr>
                    </a:p>
                  </a:txBody>
                  <a:tcPr marL="72047" marR="72047" marT="36023" marB="36023">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FD7E7"/>
                    </a:solidFill>
                  </a:tcPr>
                </a:tc>
                <a:extLst>
                  <a:ext uri="{0D108BD9-81ED-4DB2-BD59-A6C34878D82A}">
                    <a16:rowId xmlns:a16="http://schemas.microsoft.com/office/drawing/2014/main" val="10003"/>
                  </a:ext>
                </a:extLst>
              </a:tr>
            </a:tbl>
          </a:graphicData>
        </a:graphic>
      </p:graphicFrame>
      <p:sp>
        <p:nvSpPr>
          <p:cNvPr id="7" name="object 9">
            <a:extLst>
              <a:ext uri="{FF2B5EF4-FFF2-40B4-BE49-F238E27FC236}">
                <a16:creationId xmlns:a16="http://schemas.microsoft.com/office/drawing/2014/main" id="{CD9A7934-ED49-1F2D-91FF-697AD1311D8E}"/>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extLst>
      <p:ext uri="{BB962C8B-B14F-4D97-AF65-F5344CB8AC3E}">
        <p14:creationId xmlns:p14="http://schemas.microsoft.com/office/powerpoint/2010/main" val="288329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7</a:t>
            </a:fld>
            <a:endParaRPr spc="-25" dirty="0"/>
          </a:p>
        </p:txBody>
      </p:sp>
      <p:sp>
        <p:nvSpPr>
          <p:cNvPr id="2" name="object 2"/>
          <p:cNvSpPr txBox="1">
            <a:spLocks noGrp="1"/>
          </p:cNvSpPr>
          <p:nvPr>
            <p:ph type="title"/>
          </p:nvPr>
        </p:nvSpPr>
        <p:spPr>
          <a:xfrm>
            <a:off x="609600" y="274638"/>
            <a:ext cx="10972800" cy="582930"/>
          </a:xfrm>
          <a:prstGeom prst="rect">
            <a:avLst/>
          </a:prstGeom>
          <a:solidFill>
            <a:srgbClr val="17365D"/>
          </a:solidFill>
        </p:spPr>
        <p:txBody>
          <a:bodyPr vert="horz" wrap="square" lIns="0" tIns="0" rIns="0" bIns="0" rtlCol="0">
            <a:spAutoFit/>
          </a:bodyPr>
          <a:lstStyle/>
          <a:p>
            <a:pPr algn="ctr">
              <a:lnSpc>
                <a:spcPts val="4310"/>
              </a:lnSpc>
            </a:pPr>
            <a:r>
              <a:rPr b="0" spc="-10" dirty="0"/>
              <a:t>LITERATURE</a:t>
            </a:r>
            <a:r>
              <a:rPr b="0" spc="-175" dirty="0"/>
              <a:t> </a:t>
            </a:r>
            <a:r>
              <a:rPr b="0" spc="-10" dirty="0"/>
              <a:t>SURVEY</a:t>
            </a:r>
          </a:p>
        </p:txBody>
      </p:sp>
      <p:graphicFrame>
        <p:nvGraphicFramePr>
          <p:cNvPr id="3" name="object 3"/>
          <p:cNvGraphicFramePr>
            <a:graphicFrameLocks noGrp="1"/>
          </p:cNvGraphicFramePr>
          <p:nvPr>
            <p:extLst>
              <p:ext uri="{D42A27DB-BD31-4B8C-83A1-F6EECF244321}">
                <p14:modId xmlns:p14="http://schemas.microsoft.com/office/powerpoint/2010/main" val="3697114883"/>
              </p:ext>
            </p:extLst>
          </p:nvPr>
        </p:nvGraphicFramePr>
        <p:xfrm>
          <a:off x="609599" y="1065208"/>
          <a:ext cx="11049000" cy="5213672"/>
        </p:xfrm>
        <a:graphic>
          <a:graphicData uri="http://schemas.openxmlformats.org/drawingml/2006/table">
            <a:tbl>
              <a:tblPr firstRow="1" bandRow="1">
                <a:tableStyleId>{2D5ABB26-0587-4C30-8999-92F81FD0307C}</a:tableStyleId>
              </a:tblPr>
              <a:tblGrid>
                <a:gridCol w="533401">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2666999">
                  <a:extLst>
                    <a:ext uri="{9D8B030D-6E8A-4147-A177-3AD203B41FA5}">
                      <a16:colId xmlns:a16="http://schemas.microsoft.com/office/drawing/2014/main" val="20003"/>
                    </a:ext>
                  </a:extLst>
                </a:gridCol>
              </a:tblGrid>
              <a:tr h="915992">
                <a:tc>
                  <a:txBody>
                    <a:bodyPr/>
                    <a:lstStyle/>
                    <a:p>
                      <a:pPr algn="ctr">
                        <a:lnSpc>
                          <a:spcPct val="100000"/>
                        </a:lnSpc>
                        <a:spcBef>
                          <a:spcPts val="140"/>
                        </a:spcBef>
                      </a:pPr>
                      <a:endParaRPr lang="en-US" sz="1600" b="1" spc="-10" dirty="0">
                        <a:solidFill>
                          <a:srgbClr val="FFFFFF"/>
                        </a:solidFill>
                        <a:latin typeface="Times New Roman" panose="02020603050405020304" pitchFamily="18" charset="0"/>
                        <a:cs typeface="Times New Roman" panose="02020603050405020304" pitchFamily="18" charset="0"/>
                      </a:endParaRPr>
                    </a:p>
                    <a:p>
                      <a:pPr algn="ctr">
                        <a:lnSpc>
                          <a:spcPct val="100000"/>
                        </a:lnSpc>
                        <a:spcBef>
                          <a:spcPts val="140"/>
                        </a:spcBef>
                      </a:pPr>
                      <a:r>
                        <a:rPr sz="1600" b="1" spc="-10" dirty="0" err="1">
                          <a:solidFill>
                            <a:srgbClr val="FFFFFF"/>
                          </a:solidFill>
                          <a:latin typeface="Times New Roman" panose="02020603050405020304" pitchFamily="18" charset="0"/>
                          <a:cs typeface="Times New Roman" panose="02020603050405020304" pitchFamily="18" charset="0"/>
                        </a:rPr>
                        <a:t>Sl.No</a:t>
                      </a:r>
                      <a:r>
                        <a:rPr sz="1600" b="1" spc="-10" dirty="0">
                          <a:solidFill>
                            <a:srgbClr val="FFFFFF"/>
                          </a:solidFill>
                          <a:latin typeface="Times New Roman" panose="02020603050405020304" pitchFamily="18" charset="0"/>
                          <a:cs typeface="Times New Roman" panose="02020603050405020304" pitchFamily="18" charset="0"/>
                        </a:rPr>
                        <a:t>.</a:t>
                      </a:r>
                      <a:endParaRPr sz="1600" b="1" dirty="0">
                        <a:latin typeface="Times New Roman" panose="02020603050405020304" pitchFamily="18" charset="0"/>
                        <a:cs typeface="Times New Roman" panose="02020603050405020304" pitchFamily="18" charset="0"/>
                      </a:endParaRPr>
                    </a:p>
                  </a:txBody>
                  <a:tcPr marL="0" marR="0" marT="1778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F81BD"/>
                    </a:solidFill>
                  </a:tcPr>
                </a:tc>
                <a:tc>
                  <a:txBody>
                    <a:bodyPr/>
                    <a:lstStyle/>
                    <a:p>
                      <a:pPr marL="1134745">
                        <a:lnSpc>
                          <a:spcPct val="100000"/>
                        </a:lnSpc>
                        <a:spcBef>
                          <a:spcPts val="140"/>
                        </a:spcBef>
                      </a:pPr>
                      <a:endParaRPr lang="en-US" sz="1600" b="1" spc="-10" dirty="0">
                        <a:solidFill>
                          <a:srgbClr val="FFFFFF"/>
                        </a:solidFill>
                        <a:latin typeface="Times New Roman" panose="02020603050405020304" pitchFamily="18" charset="0"/>
                        <a:cs typeface="Times New Roman" panose="02020603050405020304" pitchFamily="18" charset="0"/>
                      </a:endParaRPr>
                    </a:p>
                    <a:p>
                      <a:pPr marL="1134745">
                        <a:lnSpc>
                          <a:spcPct val="100000"/>
                        </a:lnSpc>
                        <a:spcBef>
                          <a:spcPts val="140"/>
                        </a:spcBef>
                      </a:pPr>
                      <a:r>
                        <a:rPr sz="1600" b="1" spc="-10" dirty="0">
                          <a:solidFill>
                            <a:srgbClr val="FFFFFF"/>
                          </a:solidFill>
                          <a:latin typeface="Times New Roman" panose="02020603050405020304" pitchFamily="18" charset="0"/>
                          <a:cs typeface="Times New Roman" panose="02020603050405020304" pitchFamily="18" charset="0"/>
                        </a:rPr>
                        <a:t>REFERENCE</a:t>
                      </a:r>
                      <a:r>
                        <a:rPr sz="1600" b="1" spc="-55" dirty="0">
                          <a:solidFill>
                            <a:srgbClr val="FFFFFF"/>
                          </a:solidFill>
                          <a:latin typeface="Times New Roman" panose="02020603050405020304" pitchFamily="18" charset="0"/>
                          <a:cs typeface="Times New Roman" panose="02020603050405020304" pitchFamily="18" charset="0"/>
                        </a:rPr>
                        <a:t> </a:t>
                      </a:r>
                      <a:r>
                        <a:rPr sz="1600" b="1" spc="-10" dirty="0">
                          <a:solidFill>
                            <a:srgbClr val="FFFFFF"/>
                          </a:solidFill>
                          <a:latin typeface="Times New Roman" panose="02020603050405020304" pitchFamily="18" charset="0"/>
                          <a:cs typeface="Times New Roman" panose="02020603050405020304" pitchFamily="18" charset="0"/>
                        </a:rPr>
                        <a:t>PAPER</a:t>
                      </a:r>
                      <a:endParaRPr sz="1600" b="1" dirty="0">
                        <a:latin typeface="Times New Roman" panose="02020603050405020304" pitchFamily="18" charset="0"/>
                        <a:cs typeface="Times New Roman" panose="02020603050405020304" pitchFamily="18" charset="0"/>
                      </a:endParaRPr>
                    </a:p>
                  </a:txBody>
                  <a:tcPr marL="0" marR="0" marT="1778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F81BD"/>
                    </a:solidFill>
                  </a:tcPr>
                </a:tc>
                <a:tc>
                  <a:txBody>
                    <a:bodyPr/>
                    <a:lstStyle/>
                    <a:p>
                      <a:pPr marL="369570" marR="365125" indent="153035">
                        <a:lnSpc>
                          <a:spcPct val="100000"/>
                        </a:lnSpc>
                        <a:spcBef>
                          <a:spcPts val="140"/>
                        </a:spcBef>
                      </a:pPr>
                      <a:endParaRPr lang="en-IN" sz="1600" b="1" dirty="0">
                        <a:solidFill>
                          <a:srgbClr val="FFFFFF"/>
                        </a:solidFill>
                        <a:latin typeface="Times New Roman" panose="02020603050405020304" pitchFamily="18" charset="0"/>
                        <a:cs typeface="Times New Roman" panose="02020603050405020304" pitchFamily="18" charset="0"/>
                      </a:endParaRPr>
                    </a:p>
                    <a:p>
                      <a:pPr marL="369570" marR="365125" indent="153035">
                        <a:lnSpc>
                          <a:spcPct val="100000"/>
                        </a:lnSpc>
                        <a:spcBef>
                          <a:spcPts val="140"/>
                        </a:spcBef>
                      </a:pPr>
                      <a:r>
                        <a:rPr sz="1600" b="1" dirty="0">
                          <a:solidFill>
                            <a:srgbClr val="FFFFFF"/>
                          </a:solidFill>
                          <a:latin typeface="Times New Roman" panose="02020603050405020304" pitchFamily="18" charset="0"/>
                          <a:cs typeface="Times New Roman" panose="02020603050405020304" pitchFamily="18" charset="0"/>
                        </a:rPr>
                        <a:t>WORK</a:t>
                      </a:r>
                      <a:r>
                        <a:rPr sz="1600" b="1" spc="-75" dirty="0">
                          <a:solidFill>
                            <a:srgbClr val="FFFFFF"/>
                          </a:solidFill>
                          <a:latin typeface="Times New Roman" panose="02020603050405020304" pitchFamily="18" charset="0"/>
                          <a:cs typeface="Times New Roman" panose="02020603050405020304" pitchFamily="18" charset="0"/>
                        </a:rPr>
                        <a:t> </a:t>
                      </a:r>
                      <a:r>
                        <a:rPr sz="1600" b="1" dirty="0">
                          <a:solidFill>
                            <a:srgbClr val="FFFFFF"/>
                          </a:solidFill>
                          <a:latin typeface="Times New Roman" panose="02020603050405020304" pitchFamily="18" charset="0"/>
                          <a:cs typeface="Times New Roman" panose="02020603050405020304" pitchFamily="18" charset="0"/>
                        </a:rPr>
                        <a:t>DONE</a:t>
                      </a:r>
                      <a:r>
                        <a:rPr sz="1600" b="1" spc="-75" dirty="0">
                          <a:solidFill>
                            <a:srgbClr val="FFFFFF"/>
                          </a:solidFill>
                          <a:latin typeface="Times New Roman" panose="02020603050405020304" pitchFamily="18" charset="0"/>
                          <a:cs typeface="Times New Roman" panose="02020603050405020304" pitchFamily="18" charset="0"/>
                        </a:rPr>
                        <a:t> </a:t>
                      </a:r>
                      <a:r>
                        <a:rPr sz="1600" b="1" spc="-25" dirty="0">
                          <a:solidFill>
                            <a:srgbClr val="FFFFFF"/>
                          </a:solidFill>
                          <a:latin typeface="Times New Roman" panose="02020603050405020304" pitchFamily="18" charset="0"/>
                          <a:cs typeface="Times New Roman" panose="02020603050405020304" pitchFamily="18" charset="0"/>
                        </a:rPr>
                        <a:t>IN </a:t>
                      </a:r>
                      <a:r>
                        <a:rPr sz="1600" b="1" spc="-10" dirty="0">
                          <a:solidFill>
                            <a:srgbClr val="FFFFFF"/>
                          </a:solidFill>
                          <a:latin typeface="Times New Roman" panose="02020603050405020304" pitchFamily="18" charset="0"/>
                          <a:cs typeface="Times New Roman" panose="02020603050405020304" pitchFamily="18" charset="0"/>
                        </a:rPr>
                        <a:t>REFERENCE</a:t>
                      </a:r>
                      <a:r>
                        <a:rPr sz="1600" b="1" spc="-55" dirty="0">
                          <a:solidFill>
                            <a:srgbClr val="FFFFFF"/>
                          </a:solidFill>
                          <a:latin typeface="Times New Roman" panose="02020603050405020304" pitchFamily="18" charset="0"/>
                          <a:cs typeface="Times New Roman" panose="02020603050405020304" pitchFamily="18" charset="0"/>
                        </a:rPr>
                        <a:t> </a:t>
                      </a:r>
                      <a:r>
                        <a:rPr sz="1600" b="1" spc="-10" dirty="0">
                          <a:solidFill>
                            <a:srgbClr val="FFFFFF"/>
                          </a:solidFill>
                          <a:latin typeface="Times New Roman" panose="02020603050405020304" pitchFamily="18" charset="0"/>
                          <a:cs typeface="Times New Roman" panose="02020603050405020304" pitchFamily="18" charset="0"/>
                        </a:rPr>
                        <a:t>PAPER</a:t>
                      </a:r>
                      <a:endParaRPr lang="en-IN" sz="1600" b="1" spc="-10" dirty="0">
                        <a:solidFill>
                          <a:srgbClr val="FFFFFF"/>
                        </a:solidFill>
                        <a:latin typeface="Times New Roman" panose="02020603050405020304" pitchFamily="18" charset="0"/>
                        <a:cs typeface="Times New Roman" panose="02020603050405020304" pitchFamily="18" charset="0"/>
                      </a:endParaRPr>
                    </a:p>
                    <a:p>
                      <a:pPr marL="369570" marR="365125" indent="153035">
                        <a:lnSpc>
                          <a:spcPct val="100000"/>
                        </a:lnSpc>
                        <a:spcBef>
                          <a:spcPts val="140"/>
                        </a:spcBef>
                      </a:pPr>
                      <a:endParaRPr sz="1600" b="1" dirty="0">
                        <a:latin typeface="Times New Roman" panose="02020603050405020304" pitchFamily="18" charset="0"/>
                        <a:cs typeface="Times New Roman" panose="02020603050405020304" pitchFamily="18" charset="0"/>
                      </a:endParaRPr>
                    </a:p>
                  </a:txBody>
                  <a:tcPr marL="0" marR="0" marT="1778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F81BD"/>
                    </a:solidFill>
                  </a:tcPr>
                </a:tc>
                <a:tc>
                  <a:txBody>
                    <a:bodyPr/>
                    <a:lstStyle/>
                    <a:p>
                      <a:pPr marL="669925" marR="566420" indent="-98425">
                        <a:lnSpc>
                          <a:spcPct val="100000"/>
                        </a:lnSpc>
                        <a:spcBef>
                          <a:spcPts val="140"/>
                        </a:spcBef>
                      </a:pPr>
                      <a:endParaRPr lang="en-US" sz="1600" b="1" spc="-10" dirty="0">
                        <a:solidFill>
                          <a:srgbClr val="FFFFFF"/>
                        </a:solidFill>
                        <a:latin typeface="Times New Roman" panose="02020603050405020304" pitchFamily="18" charset="0"/>
                        <a:cs typeface="Times New Roman" panose="02020603050405020304" pitchFamily="18" charset="0"/>
                      </a:endParaRPr>
                    </a:p>
                    <a:p>
                      <a:pPr marL="669925" marR="566420" indent="-98425" algn="ctr">
                        <a:lnSpc>
                          <a:spcPct val="100000"/>
                        </a:lnSpc>
                        <a:spcBef>
                          <a:spcPts val="140"/>
                        </a:spcBef>
                      </a:pPr>
                      <a:r>
                        <a:rPr sz="1600" b="1" spc="-10" dirty="0">
                          <a:solidFill>
                            <a:srgbClr val="FFFFFF"/>
                          </a:solidFill>
                          <a:latin typeface="Times New Roman" panose="02020603050405020304" pitchFamily="18" charset="0"/>
                          <a:cs typeface="Times New Roman" panose="02020603050405020304" pitchFamily="18" charset="0"/>
                        </a:rPr>
                        <a:t>LIMITATIONS</a:t>
                      </a:r>
                      <a:r>
                        <a:rPr sz="1600" b="1" spc="-65" dirty="0">
                          <a:solidFill>
                            <a:srgbClr val="FFFFFF"/>
                          </a:solidFill>
                          <a:latin typeface="Times New Roman" panose="02020603050405020304" pitchFamily="18" charset="0"/>
                          <a:cs typeface="Times New Roman" panose="02020603050405020304" pitchFamily="18" charset="0"/>
                        </a:rPr>
                        <a:t> </a:t>
                      </a:r>
                      <a:r>
                        <a:rPr sz="1600" b="1" spc="-50" dirty="0">
                          <a:solidFill>
                            <a:srgbClr val="FFFFFF"/>
                          </a:solidFill>
                          <a:latin typeface="Times New Roman" panose="02020603050405020304" pitchFamily="18" charset="0"/>
                          <a:cs typeface="Times New Roman" panose="02020603050405020304" pitchFamily="18" charset="0"/>
                        </a:rPr>
                        <a:t>/</a:t>
                      </a:r>
                      <a:r>
                        <a:rPr sz="1600" b="1" spc="-10" dirty="0">
                          <a:solidFill>
                            <a:srgbClr val="FFFFFF"/>
                          </a:solidFill>
                          <a:latin typeface="Times New Roman" panose="02020603050405020304" pitchFamily="18" charset="0"/>
                          <a:cs typeface="Times New Roman" panose="02020603050405020304" pitchFamily="18" charset="0"/>
                        </a:rPr>
                        <a:t>DRAWBAC</a:t>
                      </a:r>
                      <a:r>
                        <a:rPr lang="en-IN" sz="1600" b="1" spc="-10" dirty="0">
                          <a:solidFill>
                            <a:srgbClr val="FFFFFF"/>
                          </a:solidFill>
                          <a:latin typeface="Times New Roman" panose="02020603050405020304" pitchFamily="18" charset="0"/>
                          <a:cs typeface="Times New Roman" panose="02020603050405020304" pitchFamily="18" charset="0"/>
                        </a:rPr>
                        <a:t>K</a:t>
                      </a:r>
                      <a:endParaRPr sz="1600" b="1" dirty="0">
                        <a:latin typeface="Times New Roman" panose="02020603050405020304" pitchFamily="18" charset="0"/>
                        <a:cs typeface="Times New Roman" panose="02020603050405020304" pitchFamily="18" charset="0"/>
                      </a:endParaRPr>
                    </a:p>
                  </a:txBody>
                  <a:tcPr marL="0" marR="0" marT="1778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10000"/>
                  </a:ext>
                </a:extLst>
              </a:tr>
              <a:tr h="1345252">
                <a:tc>
                  <a:txBody>
                    <a:bodyPr/>
                    <a:lstStyle/>
                    <a:p>
                      <a:pPr algn="ctr">
                        <a:lnSpc>
                          <a:spcPct val="100000"/>
                        </a:lnSpc>
                        <a:spcBef>
                          <a:spcPts val="150"/>
                        </a:spcBef>
                      </a:pPr>
                      <a:endParaRPr lang="en-US" sz="1400" dirty="0">
                        <a:latin typeface="Times New Roman" panose="02020603050405020304" pitchFamily="18" charset="0"/>
                        <a:cs typeface="Times New Roman" panose="02020603050405020304" pitchFamily="18" charset="0"/>
                      </a:endParaRPr>
                    </a:p>
                    <a:p>
                      <a:pPr algn="ctr">
                        <a:lnSpc>
                          <a:spcPct val="100000"/>
                        </a:lnSpc>
                        <a:spcBef>
                          <a:spcPts val="150"/>
                        </a:spcBef>
                      </a:pPr>
                      <a:endParaRPr lang="en-US" sz="1400" dirty="0">
                        <a:latin typeface="Times New Roman" panose="02020603050405020304" pitchFamily="18" charset="0"/>
                        <a:cs typeface="Times New Roman" panose="02020603050405020304" pitchFamily="18" charset="0"/>
                      </a:endParaRPr>
                    </a:p>
                    <a:p>
                      <a:pPr algn="ctr">
                        <a:lnSpc>
                          <a:spcPct val="100000"/>
                        </a:lnSpc>
                        <a:spcBef>
                          <a:spcPts val="150"/>
                        </a:spcBef>
                      </a:pPr>
                      <a:r>
                        <a:rPr lang="en-US" sz="1400" dirty="0">
                          <a:latin typeface="Times New Roman" panose="02020603050405020304" pitchFamily="18" charset="0"/>
                          <a:cs typeface="Times New Roman" panose="02020603050405020304" pitchFamily="18" charset="0"/>
                        </a:rPr>
                        <a:t>8.</a:t>
                      </a:r>
                      <a:endParaRPr sz="1400" dirty="0">
                        <a:latin typeface="Times New Roman" panose="02020603050405020304" pitchFamily="18" charset="0"/>
                        <a:cs typeface="Times New Roman" panose="02020603050405020304" pitchFamily="18" charset="0"/>
                      </a:endParaRPr>
                    </a:p>
                  </a:txBody>
                  <a:tcPr marL="0" marR="0" marT="1905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CED7E7"/>
                    </a:solidFill>
                  </a:tcPr>
                </a:tc>
                <a:tc>
                  <a:txBody>
                    <a:bodyPr/>
                    <a:lstStyle/>
                    <a:p>
                      <a:pPr algn="l"/>
                      <a:r>
                        <a:rPr lang="en-US" sz="1400" b="1" i="0" dirty="0">
                          <a:latin typeface="Times New Roman" pitchFamily="18" charset="0"/>
                          <a:cs typeface="Times New Roman" pitchFamily="18" charset="0"/>
                        </a:rPr>
                        <a:t>Title:</a:t>
                      </a:r>
                      <a:r>
                        <a:rPr lang="en-US" sz="1400" i="0" dirty="0">
                          <a:latin typeface="Times New Roman" pitchFamily="18" charset="0"/>
                          <a:cs typeface="Times New Roman" pitchFamily="18" charset="0"/>
                        </a:rPr>
                        <a:t> Perception Assistance for the Visually Impaired Through Smart Objects</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Authors:</a:t>
                      </a:r>
                      <a:r>
                        <a:rPr lang="en-US" sz="1400" i="0" dirty="0">
                          <a:latin typeface="Times New Roman" pitchFamily="18" charset="0"/>
                          <a:cs typeface="Times New Roman" pitchFamily="18" charset="0"/>
                        </a:rPr>
                        <a:t> Jean </a:t>
                      </a:r>
                      <a:r>
                        <a:rPr lang="en-US" sz="1400" i="0" dirty="0" err="1">
                          <a:latin typeface="Times New Roman" pitchFamily="18" charset="0"/>
                          <a:cs typeface="Times New Roman" pitchFamily="18" charset="0"/>
                        </a:rPr>
                        <a:t>Connier</a:t>
                      </a:r>
                      <a:r>
                        <a:rPr lang="en-US" sz="1400" i="0" dirty="0">
                          <a:latin typeface="Times New Roman" pitchFamily="18" charset="0"/>
                          <a:cs typeface="Times New Roman" pitchFamily="18" charset="0"/>
                        </a:rPr>
                        <a:t>, </a:t>
                      </a:r>
                      <a:r>
                        <a:rPr lang="en-US" sz="1400" i="0" dirty="0" err="1">
                          <a:latin typeface="Times New Roman" pitchFamily="18" charset="0"/>
                          <a:cs typeface="Times New Roman" pitchFamily="18" charset="0"/>
                        </a:rPr>
                        <a:t>Haiying</a:t>
                      </a:r>
                      <a:r>
                        <a:rPr lang="en-US" sz="1400" i="0" dirty="0">
                          <a:latin typeface="Times New Roman" pitchFamily="18" charset="0"/>
                          <a:cs typeface="Times New Roman" pitchFamily="18" charset="0"/>
                        </a:rPr>
                        <a:t> Zhou, et al.</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Year:</a:t>
                      </a:r>
                      <a:r>
                        <a:rPr lang="en-US" sz="1400" i="0" dirty="0">
                          <a:latin typeface="Times New Roman" panose="02020603050405020304" pitchFamily="18" charset="0"/>
                          <a:cs typeface="Times New Roman" panose="02020603050405020304" pitchFamily="18" charset="0"/>
                        </a:rPr>
                        <a:t> 2020.</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CED7E7"/>
                    </a:solidFill>
                  </a:tcPr>
                </a:tc>
                <a:tc>
                  <a:txBody>
                    <a:bodyPr/>
                    <a:lstStyle/>
                    <a:p>
                      <a:pPr algn="l"/>
                      <a:r>
                        <a:rPr lang="en-US" sz="1400" i="0" dirty="0">
                          <a:latin typeface="Times New Roman" panose="02020603050405020304" pitchFamily="18" charset="0"/>
                          <a:cs typeface="Times New Roman" panose="02020603050405020304" pitchFamily="18" charset="0"/>
                        </a:rPr>
                        <a:t>Proposes SO2SEES </a:t>
                      </a:r>
                      <a:r>
                        <a:rPr lang="en-US" sz="1400" i="0" dirty="0" err="1">
                          <a:latin typeface="Times New Roman" panose="02020603050405020304" pitchFamily="18" charset="0"/>
                          <a:cs typeface="Times New Roman" panose="02020603050405020304" pitchFamily="18" charset="0"/>
                        </a:rPr>
                        <a:t>IoT</a:t>
                      </a:r>
                      <a:r>
                        <a:rPr lang="en-US" sz="1400" i="0" dirty="0">
                          <a:latin typeface="Times New Roman" panose="02020603050405020304" pitchFamily="18" charset="0"/>
                          <a:cs typeface="Times New Roman" panose="02020603050405020304" pitchFamily="18" charset="0"/>
                        </a:rPr>
                        <a:t>-cloud system linking visually impaired users to smart objects for spatial &amp; non-spatial perception; validated in a prototype.</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CED7E7"/>
                    </a:solidFill>
                  </a:tcPr>
                </a:tc>
                <a:tc>
                  <a:txBody>
                    <a:bodyPr/>
                    <a:lstStyle/>
                    <a:p>
                      <a:pPr algn="l"/>
                      <a:r>
                        <a:rPr lang="en-US" sz="1400" i="0" dirty="0">
                          <a:latin typeface="Times New Roman" panose="02020603050405020304" pitchFamily="18" charset="0"/>
                          <a:cs typeface="Times New Roman" panose="02020603050405020304" pitchFamily="18" charset="0"/>
                        </a:rPr>
                        <a:t>Limited real-world testing; interoperability &amp; smart object adoption challenges; needs broader trials.</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CED7E7"/>
                    </a:solidFill>
                  </a:tcPr>
                </a:tc>
                <a:extLst>
                  <a:ext uri="{0D108BD9-81ED-4DB2-BD59-A6C34878D82A}">
                    <a16:rowId xmlns:a16="http://schemas.microsoft.com/office/drawing/2014/main" val="10003"/>
                  </a:ext>
                </a:extLst>
              </a:tr>
              <a:tr h="1676400">
                <a:tc>
                  <a:txBody>
                    <a:bodyPr/>
                    <a:lstStyle/>
                    <a:p>
                      <a:pPr algn="ctr">
                        <a:lnSpc>
                          <a:spcPct val="100000"/>
                        </a:lnSpc>
                        <a:spcBef>
                          <a:spcPts val="150"/>
                        </a:spcBef>
                      </a:pPr>
                      <a:endParaRPr lang="en-US" sz="1400" spc="-25" dirty="0">
                        <a:latin typeface="Times New Roman" panose="02020603050405020304" pitchFamily="18" charset="0"/>
                        <a:cs typeface="Times New Roman" panose="02020603050405020304" pitchFamily="18" charset="0"/>
                      </a:endParaRPr>
                    </a:p>
                    <a:p>
                      <a:pPr algn="ctr">
                        <a:lnSpc>
                          <a:spcPct val="100000"/>
                        </a:lnSpc>
                        <a:spcBef>
                          <a:spcPts val="150"/>
                        </a:spcBef>
                      </a:pPr>
                      <a:endParaRPr lang="en-IN" sz="1400" spc="-25" dirty="0">
                        <a:latin typeface="Times New Roman" panose="02020603050405020304" pitchFamily="18" charset="0"/>
                        <a:cs typeface="Times New Roman" panose="02020603050405020304" pitchFamily="18" charset="0"/>
                      </a:endParaRPr>
                    </a:p>
                    <a:p>
                      <a:pPr algn="ctr">
                        <a:lnSpc>
                          <a:spcPct val="100000"/>
                        </a:lnSpc>
                        <a:spcBef>
                          <a:spcPts val="150"/>
                        </a:spcBef>
                      </a:pPr>
                      <a:r>
                        <a:rPr sz="1400" spc="-25" dirty="0">
                          <a:latin typeface="Times New Roman" panose="02020603050405020304" pitchFamily="18" charset="0"/>
                          <a:cs typeface="Times New Roman" panose="02020603050405020304" pitchFamily="18" charset="0"/>
                        </a:rPr>
                        <a:t>9.</a:t>
                      </a:r>
                      <a:endParaRPr sz="1400" dirty="0">
                        <a:latin typeface="Times New Roman" panose="02020603050405020304" pitchFamily="18" charset="0"/>
                        <a:cs typeface="Times New Roman" panose="02020603050405020304" pitchFamily="18" charset="0"/>
                      </a:endParaRPr>
                    </a:p>
                  </a:txBody>
                  <a:tcPr marL="0" marR="0" marT="1905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CED7E7"/>
                    </a:solidFill>
                  </a:tcPr>
                </a:tc>
                <a:tc>
                  <a:txBody>
                    <a:bodyPr/>
                    <a:lstStyle/>
                    <a:p>
                      <a:pPr algn="l"/>
                      <a:r>
                        <a:rPr lang="en-US" sz="1400" b="1" i="0" dirty="0">
                          <a:latin typeface="Times New Roman" pitchFamily="18" charset="0"/>
                          <a:cs typeface="Times New Roman" pitchFamily="18" charset="0"/>
                        </a:rPr>
                        <a:t>Title:</a:t>
                      </a:r>
                      <a:r>
                        <a:rPr lang="en-US" sz="1400" i="0" dirty="0">
                          <a:latin typeface="Times New Roman" pitchFamily="18" charset="0"/>
                          <a:cs typeface="Times New Roman" pitchFamily="18" charset="0"/>
                        </a:rPr>
                        <a:t> A Survey on Continuous Object Tracking and Boundary Detection Schemes in </a:t>
                      </a:r>
                      <a:r>
                        <a:rPr lang="en-US" sz="1400" i="0" dirty="0" err="1">
                          <a:latin typeface="Times New Roman" pitchFamily="18" charset="0"/>
                          <a:cs typeface="Times New Roman" pitchFamily="18" charset="0"/>
                        </a:rPr>
                        <a:t>IoT</a:t>
                      </a:r>
                      <a:r>
                        <a:rPr lang="en-US" sz="1400" i="0" dirty="0">
                          <a:latin typeface="Times New Roman" pitchFamily="18" charset="0"/>
                          <a:cs typeface="Times New Roman" pitchFamily="18" charset="0"/>
                        </a:rPr>
                        <a:t> Assisted Wireless Sensor Networks</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Authors:</a:t>
                      </a:r>
                      <a:r>
                        <a:rPr lang="en-US" sz="1400" i="0" dirty="0">
                          <a:latin typeface="Times New Roman" pitchFamily="18" charset="0"/>
                          <a:cs typeface="Times New Roman" pitchFamily="18" charset="0"/>
                        </a:rPr>
                        <a:t> Ata </a:t>
                      </a:r>
                      <a:r>
                        <a:rPr lang="en-US" sz="1400" i="0" dirty="0" err="1">
                          <a:latin typeface="Times New Roman" pitchFamily="18" charset="0"/>
                          <a:cs typeface="Times New Roman" pitchFamily="18" charset="0"/>
                        </a:rPr>
                        <a:t>Ullah</a:t>
                      </a:r>
                      <a:r>
                        <a:rPr lang="en-US" sz="1400" i="0" dirty="0">
                          <a:latin typeface="Times New Roman" pitchFamily="18" charset="0"/>
                          <a:cs typeface="Times New Roman" pitchFamily="18" charset="0"/>
                        </a:rPr>
                        <a:t>, </a:t>
                      </a:r>
                      <a:r>
                        <a:rPr lang="en-US" sz="1400" i="0" dirty="0" err="1">
                          <a:latin typeface="Times New Roman" pitchFamily="18" charset="0"/>
                          <a:cs typeface="Times New Roman" pitchFamily="18" charset="0"/>
                        </a:rPr>
                        <a:t>Nagina</a:t>
                      </a:r>
                      <a:r>
                        <a:rPr lang="en-US" sz="1400" i="0" dirty="0">
                          <a:latin typeface="Times New Roman" pitchFamily="18" charset="0"/>
                          <a:cs typeface="Times New Roman" pitchFamily="18" charset="0"/>
                        </a:rPr>
                        <a:t> </a:t>
                      </a:r>
                      <a:r>
                        <a:rPr lang="en-US" sz="1400" i="0" dirty="0" err="1">
                          <a:latin typeface="Times New Roman" pitchFamily="18" charset="0"/>
                          <a:cs typeface="Times New Roman" pitchFamily="18" charset="0"/>
                        </a:rPr>
                        <a:t>Ishaq</a:t>
                      </a:r>
                      <a:r>
                        <a:rPr lang="en-US" sz="1400" i="0" dirty="0">
                          <a:latin typeface="Times New Roman" pitchFamily="18" charset="0"/>
                          <a:cs typeface="Times New Roman" pitchFamily="18" charset="0"/>
                        </a:rPr>
                        <a:t>, Muhammad </a:t>
                      </a:r>
                      <a:r>
                        <a:rPr lang="en-US" sz="1400" i="0" dirty="0" err="1">
                          <a:latin typeface="Times New Roman" pitchFamily="18" charset="0"/>
                          <a:cs typeface="Times New Roman" pitchFamily="18" charset="0"/>
                        </a:rPr>
                        <a:t>Azeem</a:t>
                      </a:r>
                      <a:r>
                        <a:rPr lang="en-US" sz="1400" i="0" dirty="0">
                          <a:latin typeface="Times New Roman" pitchFamily="18" charset="0"/>
                          <a:cs typeface="Times New Roman" pitchFamily="18" charset="0"/>
                        </a:rPr>
                        <a:t>, </a:t>
                      </a:r>
                      <a:r>
                        <a:rPr lang="en-US" sz="1400" i="0" dirty="0" err="1">
                          <a:latin typeface="Times New Roman" pitchFamily="18" charset="0"/>
                          <a:cs typeface="Times New Roman" pitchFamily="18" charset="0"/>
                        </a:rPr>
                        <a:t>Humaira</a:t>
                      </a:r>
                      <a:r>
                        <a:rPr lang="en-US" sz="1400" i="0" dirty="0">
                          <a:latin typeface="Times New Roman" pitchFamily="18" charset="0"/>
                          <a:cs typeface="Times New Roman" pitchFamily="18" charset="0"/>
                        </a:rPr>
                        <a:t> Ashraf, NZ </a:t>
                      </a:r>
                      <a:r>
                        <a:rPr lang="en-US" sz="1400" i="0" dirty="0" err="1">
                          <a:latin typeface="Times New Roman" pitchFamily="18" charset="0"/>
                          <a:cs typeface="Times New Roman" pitchFamily="18" charset="0"/>
                        </a:rPr>
                        <a:t>Jhanjhi</a:t>
                      </a:r>
                      <a:r>
                        <a:rPr lang="en-US" sz="1400" i="0" dirty="0">
                          <a:latin typeface="Times New Roman" pitchFamily="18" charset="0"/>
                          <a:cs typeface="Times New Roman" pitchFamily="18" charset="0"/>
                        </a:rPr>
                        <a:t>, </a:t>
                      </a:r>
                      <a:r>
                        <a:rPr lang="en-US" sz="1400" i="0" dirty="0" err="1">
                          <a:latin typeface="Times New Roman" pitchFamily="18" charset="0"/>
                          <a:cs typeface="Times New Roman" pitchFamily="18" charset="0"/>
                        </a:rPr>
                        <a:t>Mamoona</a:t>
                      </a:r>
                      <a:r>
                        <a:rPr lang="en-US" sz="1400" i="0" dirty="0">
                          <a:latin typeface="Times New Roman" pitchFamily="18" charset="0"/>
                          <a:cs typeface="Times New Roman" pitchFamily="18" charset="0"/>
                        </a:rPr>
                        <a:t> </a:t>
                      </a:r>
                      <a:r>
                        <a:rPr lang="en-US" sz="1400" i="0" dirty="0" err="1">
                          <a:latin typeface="Times New Roman" pitchFamily="18" charset="0"/>
                          <a:cs typeface="Times New Roman" pitchFamily="18" charset="0"/>
                        </a:rPr>
                        <a:t>Humayun</a:t>
                      </a:r>
                      <a:r>
                        <a:rPr lang="en-US" sz="1400" i="0" dirty="0">
                          <a:latin typeface="Times New Roman" pitchFamily="18" charset="0"/>
                          <a:cs typeface="Times New Roman" pitchFamily="18" charset="0"/>
                        </a:rPr>
                        <a:t>, </a:t>
                      </a:r>
                      <a:r>
                        <a:rPr lang="en-US" sz="1400" i="0" dirty="0" err="1">
                          <a:latin typeface="Times New Roman" pitchFamily="18" charset="0"/>
                          <a:cs typeface="Times New Roman" pitchFamily="18" charset="0"/>
                        </a:rPr>
                        <a:t>Thamer</a:t>
                      </a:r>
                      <a:r>
                        <a:rPr lang="en-US" sz="1400" i="0" dirty="0">
                          <a:latin typeface="Times New Roman" pitchFamily="18" charset="0"/>
                          <a:cs typeface="Times New Roman" pitchFamily="18" charset="0"/>
                        </a:rPr>
                        <a:t> A. </a:t>
                      </a:r>
                      <a:r>
                        <a:rPr lang="en-US" sz="1400" i="0" dirty="0" err="1">
                          <a:latin typeface="Times New Roman" pitchFamily="18" charset="0"/>
                          <a:cs typeface="Times New Roman" pitchFamily="18" charset="0"/>
                        </a:rPr>
                        <a:t>Tabbakh</a:t>
                      </a:r>
                      <a:r>
                        <a:rPr lang="en-US" sz="1400" i="0" dirty="0">
                          <a:latin typeface="Times New Roman" pitchFamily="18" charset="0"/>
                          <a:cs typeface="Times New Roman" pitchFamily="18" charset="0"/>
                        </a:rPr>
                        <a:t> &amp; </a:t>
                      </a:r>
                      <a:r>
                        <a:rPr lang="en-US" sz="1400" i="0" dirty="0" err="1">
                          <a:latin typeface="Times New Roman" pitchFamily="18" charset="0"/>
                          <a:cs typeface="Times New Roman" pitchFamily="18" charset="0"/>
                        </a:rPr>
                        <a:t>Zahrah</a:t>
                      </a:r>
                      <a:r>
                        <a:rPr lang="en-US" sz="1400" i="0" dirty="0">
                          <a:latin typeface="Times New Roman" pitchFamily="18" charset="0"/>
                          <a:cs typeface="Times New Roman" pitchFamily="18" charset="0"/>
                        </a:rPr>
                        <a:t> A. </a:t>
                      </a:r>
                      <a:r>
                        <a:rPr lang="en-US" sz="1400" i="0" dirty="0" err="1">
                          <a:latin typeface="Times New Roman" pitchFamily="18" charset="0"/>
                          <a:cs typeface="Times New Roman" pitchFamily="18" charset="0"/>
                        </a:rPr>
                        <a:t>Almusaylim</a:t>
                      </a:r>
                      <a:r>
                        <a:rPr lang="en-US" sz="1400" i="0" dirty="0">
                          <a:latin typeface="Times New Roman" pitchFamily="18" charset="0"/>
                          <a:cs typeface="Times New Roman" pitchFamily="18" charset="0"/>
                        </a:rPr>
                        <a:t> </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Year:</a:t>
                      </a:r>
                      <a:r>
                        <a:rPr lang="en-US" sz="1400" i="0" dirty="0">
                          <a:latin typeface="Times New Roman" pitchFamily="18" charset="0"/>
                          <a:cs typeface="Times New Roman" pitchFamily="18" charset="0"/>
                        </a:rPr>
                        <a:t> 2021</a:t>
                      </a:r>
                    </a:p>
                  </a:txBody>
                  <a:tcPr anchor="ctr">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CED7E7"/>
                    </a:solidFill>
                  </a:tcPr>
                </a:tc>
                <a:tc>
                  <a:txBody>
                    <a:bodyPr/>
                    <a:lstStyle/>
                    <a:p>
                      <a:pPr algn="l"/>
                      <a:r>
                        <a:rPr lang="en-US" sz="1400" i="0" dirty="0">
                          <a:latin typeface="Times New Roman" panose="02020603050405020304" pitchFamily="18" charset="0"/>
                          <a:cs typeface="Times New Roman" panose="02020603050405020304" pitchFamily="18" charset="0"/>
                        </a:rPr>
                        <a:t>A Survey on Continuous Object Tracking &amp; Boundary Detection in </a:t>
                      </a:r>
                      <a:r>
                        <a:rPr lang="en-US" sz="1400" i="0" dirty="0" err="1">
                          <a:latin typeface="Times New Roman" panose="02020603050405020304" pitchFamily="18" charset="0"/>
                          <a:cs typeface="Times New Roman" panose="02020603050405020304" pitchFamily="18" charset="0"/>
                        </a:rPr>
                        <a:t>IoT</a:t>
                      </a:r>
                      <a:r>
                        <a:rPr lang="en-US" sz="1400" i="0" dirty="0">
                          <a:latin typeface="Times New Roman" panose="02020603050405020304" pitchFamily="18" charset="0"/>
                          <a:cs typeface="Times New Roman" panose="02020603050405020304" pitchFamily="18" charset="0"/>
                        </a:rPr>
                        <a:t> WSNs, IEEE Access, Vol. 9, Sept 2021.</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12700">
                      <a:solidFill>
                        <a:srgbClr val="FFFFFF"/>
                      </a:solidFill>
                      <a:prstDash val="solid"/>
                    </a:lnB>
                    <a:solidFill>
                      <a:srgbClr val="CED7E7"/>
                    </a:solidFill>
                  </a:tcPr>
                </a:tc>
                <a:tc>
                  <a:txBody>
                    <a:bodyPr/>
                    <a:lstStyle/>
                    <a:p>
                      <a:pPr algn="l"/>
                      <a:r>
                        <a:rPr lang="en-US" sz="1400" i="0" dirty="0">
                          <a:latin typeface="Times New Roman" panose="02020603050405020304" pitchFamily="18" charset="0"/>
                          <a:cs typeface="Times New Roman" panose="02020603050405020304" pitchFamily="18" charset="0"/>
                        </a:rPr>
                        <a:t>A Survey on Continuous Object Tracking &amp; Boundary Detection in </a:t>
                      </a:r>
                      <a:r>
                        <a:rPr lang="en-US" sz="1400" i="0" dirty="0" err="1">
                          <a:latin typeface="Times New Roman" panose="02020603050405020304" pitchFamily="18" charset="0"/>
                          <a:cs typeface="Times New Roman" panose="02020603050405020304" pitchFamily="18" charset="0"/>
                        </a:rPr>
                        <a:t>IoT</a:t>
                      </a:r>
                      <a:r>
                        <a:rPr lang="en-US" sz="1400" i="0" dirty="0">
                          <a:latin typeface="Times New Roman" panose="02020603050405020304" pitchFamily="18" charset="0"/>
                          <a:cs typeface="Times New Roman" panose="02020603050405020304" pitchFamily="18" charset="0"/>
                        </a:rPr>
                        <a:t> WSNs, IEEE Access, Vol. 9, Sept 2021.</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12700">
                      <a:solidFill>
                        <a:srgbClr val="FFFFFF"/>
                      </a:solidFill>
                      <a:prstDash val="solid"/>
                    </a:lnB>
                    <a:solidFill>
                      <a:srgbClr val="CED7E7"/>
                    </a:solidFill>
                  </a:tcPr>
                </a:tc>
                <a:extLst>
                  <a:ext uri="{0D108BD9-81ED-4DB2-BD59-A6C34878D82A}">
                    <a16:rowId xmlns:a16="http://schemas.microsoft.com/office/drawing/2014/main" val="10001"/>
                  </a:ext>
                </a:extLst>
              </a:tr>
              <a:tr h="1173480">
                <a:tc>
                  <a:txBody>
                    <a:bodyPr/>
                    <a:lstStyle/>
                    <a:p>
                      <a:pPr algn="ctr">
                        <a:lnSpc>
                          <a:spcPct val="100000"/>
                        </a:lnSpc>
                        <a:spcBef>
                          <a:spcPts val="150"/>
                        </a:spcBef>
                      </a:pPr>
                      <a:endParaRPr lang="en-US" sz="1400" spc="-25" dirty="0">
                        <a:latin typeface="Times New Roman" panose="02020603050405020304" pitchFamily="18" charset="0"/>
                        <a:cs typeface="Times New Roman" panose="02020603050405020304" pitchFamily="18" charset="0"/>
                      </a:endParaRPr>
                    </a:p>
                    <a:p>
                      <a:pPr algn="ctr">
                        <a:lnSpc>
                          <a:spcPct val="100000"/>
                        </a:lnSpc>
                        <a:spcBef>
                          <a:spcPts val="150"/>
                        </a:spcBef>
                      </a:pPr>
                      <a:r>
                        <a:rPr sz="1400" spc="-25" dirty="0">
                          <a:latin typeface="Times New Roman" panose="02020603050405020304" pitchFamily="18" charset="0"/>
                          <a:cs typeface="Times New Roman" panose="02020603050405020304" pitchFamily="18" charset="0"/>
                        </a:rPr>
                        <a:t>10.</a:t>
                      </a:r>
                      <a:endParaRPr sz="1400" dirty="0">
                        <a:latin typeface="Times New Roman" panose="02020603050405020304" pitchFamily="18" charset="0"/>
                        <a:cs typeface="Times New Roman" panose="02020603050405020304" pitchFamily="18" charset="0"/>
                      </a:endParaRPr>
                    </a:p>
                  </a:txBody>
                  <a:tcPr marL="0" marR="0" marT="1905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7ECF4"/>
                    </a:solidFill>
                  </a:tcPr>
                </a:tc>
                <a:tc>
                  <a:txBody>
                    <a:bodyPr/>
                    <a:lstStyle/>
                    <a:p>
                      <a:pPr algn="l"/>
                      <a:r>
                        <a:rPr lang="en-US" sz="1400" b="1" i="0" dirty="0">
                          <a:latin typeface="Times New Roman" pitchFamily="18" charset="0"/>
                          <a:cs typeface="Times New Roman" pitchFamily="18" charset="0"/>
                        </a:rPr>
                        <a:t>Title:</a:t>
                      </a:r>
                      <a:r>
                        <a:rPr lang="en-US" sz="1400" i="0" dirty="0">
                          <a:latin typeface="Times New Roman" pitchFamily="18" charset="0"/>
                          <a:cs typeface="Times New Roman" pitchFamily="18" charset="0"/>
                        </a:rPr>
                        <a:t> Adaptive, Affordable Robotic Hand for Deaf &amp; Deaf-Blind Communication Using Tactile ASL</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Authors:</a:t>
                      </a:r>
                      <a:r>
                        <a:rPr lang="en-US" sz="1400" i="0" dirty="0">
                          <a:latin typeface="Times New Roman" pitchFamily="18" charset="0"/>
                          <a:cs typeface="Times New Roman" pitchFamily="18" charset="0"/>
                        </a:rPr>
                        <a:t> Samantha Johnson et al.</a:t>
                      </a:r>
                      <a:br>
                        <a:rPr lang="en-US" sz="1400" i="0" dirty="0">
                          <a:latin typeface="Times New Roman" pitchFamily="18" charset="0"/>
                          <a:cs typeface="Times New Roman" pitchFamily="18" charset="0"/>
                        </a:rPr>
                      </a:br>
                      <a:r>
                        <a:rPr lang="en-US" sz="1400" b="1" i="0" dirty="0">
                          <a:latin typeface="Times New Roman" pitchFamily="18" charset="0"/>
                          <a:cs typeface="Times New Roman" pitchFamily="18" charset="0"/>
                        </a:rPr>
                        <a:t>Year:</a:t>
                      </a:r>
                      <a:r>
                        <a:rPr lang="en-US" sz="1400" i="0" dirty="0">
                          <a:latin typeface="Times New Roman" pitchFamily="18" charset="0"/>
                          <a:cs typeface="Times New Roman" pitchFamily="18" charset="0"/>
                        </a:rPr>
                        <a:t> 2021.</a:t>
                      </a:r>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7ECF4"/>
                    </a:solidFill>
                  </a:tcPr>
                </a:tc>
                <a:tc>
                  <a:txBody>
                    <a:bodyPr/>
                    <a:lstStyle/>
                    <a:p>
                      <a:pPr algn="l"/>
                      <a:r>
                        <a:rPr lang="en-US" sz="1400" i="0" dirty="0">
                          <a:latin typeface="Times New Roman" panose="02020603050405020304" pitchFamily="18" charset="0"/>
                          <a:cs typeface="Times New Roman" panose="02020603050405020304" pitchFamily="18" charset="0"/>
                        </a:rPr>
                        <a:t>Adaptive, Affordable Robotic Hand for Deaf &amp; Deaf-Blind Communication Using Tactile ASL, IEEE EMBC, Nov 2021.</a:t>
                      </a:r>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7ECF4"/>
                    </a:solidFill>
                  </a:tcPr>
                </a:tc>
                <a:tc>
                  <a:txBody>
                    <a:bodyPr/>
                    <a:lstStyle/>
                    <a:p>
                      <a:pPr algn="l"/>
                      <a:r>
                        <a:rPr lang="en-US" sz="1400" i="0" dirty="0">
                          <a:latin typeface="Times New Roman" panose="02020603050405020304" pitchFamily="18" charset="0"/>
                          <a:cs typeface="Times New Roman" panose="02020603050405020304" pitchFamily="18" charset="0"/>
                        </a:rPr>
                        <a:t>Adaptive, Affordable Robotic Hand for Deaf &amp; Deaf-Blind Communication Using Tactile ASL, IEEE EMBC, Nov 2021.</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CF4"/>
                    </a:solidFill>
                  </a:tcPr>
                </a:tc>
                <a:extLst>
                  <a:ext uri="{0D108BD9-81ED-4DB2-BD59-A6C34878D82A}">
                    <a16:rowId xmlns:a16="http://schemas.microsoft.com/office/drawing/2014/main" val="10002"/>
                  </a:ext>
                </a:extLst>
              </a:tr>
            </a:tbl>
          </a:graphicData>
        </a:graphic>
      </p:graphicFrame>
      <p:sp>
        <p:nvSpPr>
          <p:cNvPr id="7" name="object 9">
            <a:extLst>
              <a:ext uri="{FF2B5EF4-FFF2-40B4-BE49-F238E27FC236}">
                <a16:creationId xmlns:a16="http://schemas.microsoft.com/office/drawing/2014/main" id="{A01F8D0F-A78D-C9E4-ABFB-27E1DFCB284C}"/>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xfrm>
            <a:off x="11381332" y="6466776"/>
            <a:ext cx="201067" cy="159390"/>
          </a:xfrm>
          <a:prstGeom prst="rect">
            <a:avLst/>
          </a:prstGeom>
        </p:spPr>
        <p:txBody>
          <a:bodyPr vert="horz" wrap="square" lIns="0" tIns="0" rIns="0" bIns="0" rtlCol="0">
            <a:spAutoFit/>
          </a:bodyPr>
          <a:lstStyle/>
          <a:p>
            <a:pPr marL="38100">
              <a:lnSpc>
                <a:spcPts val="1240"/>
              </a:lnSpc>
            </a:pPr>
            <a:fld id="{81D60167-4931-47E6-BA6A-407CBD079E47}" type="slidenum">
              <a:rPr spc="-50" dirty="0"/>
              <a:t>8</a:t>
            </a:fld>
            <a:endParaRPr spc="-50" dirty="0"/>
          </a:p>
        </p:txBody>
      </p:sp>
      <p:sp>
        <p:nvSpPr>
          <p:cNvPr id="2" name="object 2"/>
          <p:cNvSpPr txBox="1">
            <a:spLocks noGrp="1"/>
          </p:cNvSpPr>
          <p:nvPr>
            <p:ph type="title"/>
          </p:nvPr>
        </p:nvSpPr>
        <p:spPr>
          <a:xfrm>
            <a:off x="609600" y="274638"/>
            <a:ext cx="10972800" cy="868680"/>
          </a:xfrm>
          <a:prstGeom prst="rect">
            <a:avLst/>
          </a:prstGeom>
          <a:solidFill>
            <a:srgbClr val="17365D"/>
          </a:solidFill>
        </p:spPr>
        <p:txBody>
          <a:bodyPr vert="horz" wrap="square" lIns="0" tIns="141605" rIns="0" bIns="0" rtlCol="0">
            <a:spAutoFit/>
          </a:bodyPr>
          <a:lstStyle/>
          <a:p>
            <a:pPr algn="ctr">
              <a:lnSpc>
                <a:spcPct val="100000"/>
              </a:lnSpc>
              <a:spcBef>
                <a:spcPts val="1115"/>
              </a:spcBef>
            </a:pPr>
            <a:r>
              <a:rPr dirty="0"/>
              <a:t>PROPOSED</a:t>
            </a:r>
            <a:r>
              <a:rPr spc="-50" dirty="0"/>
              <a:t> </a:t>
            </a:r>
            <a:r>
              <a:rPr spc="-10" dirty="0"/>
              <a:t>SYSTEM</a:t>
            </a:r>
          </a:p>
        </p:txBody>
      </p:sp>
      <p:sp>
        <p:nvSpPr>
          <p:cNvPr id="8" name="TextBox 7">
            <a:extLst>
              <a:ext uri="{FF2B5EF4-FFF2-40B4-BE49-F238E27FC236}">
                <a16:creationId xmlns:a16="http://schemas.microsoft.com/office/drawing/2014/main" id="{F7B96792-3015-F53E-3DEB-31C31932FE6A}"/>
              </a:ext>
            </a:extLst>
          </p:cNvPr>
          <p:cNvSpPr txBox="1"/>
          <p:nvPr/>
        </p:nvSpPr>
        <p:spPr>
          <a:xfrm>
            <a:off x="567573" y="1600200"/>
            <a:ext cx="10899775" cy="2308324"/>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Smart Sign Language gloves with translation between sign and text/speech.</a:t>
            </a:r>
          </a:p>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To enable the text to be displayed on an LCD, ensuring two-way interaction.</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Flexible, fabric-based sensors for comfort and long-duration usability.</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Integration with mobile applications and voice assistants for seamless operation.</a:t>
            </a:r>
            <a:endParaRPr lang="en-IN" sz="2400" dirty="0">
              <a:latin typeface="Times New Roman" panose="02020603050405020304" pitchFamily="18" charset="0"/>
              <a:cs typeface="Times New Roman" panose="02020603050405020304" pitchFamily="18" charset="0"/>
            </a:endParaRPr>
          </a:p>
        </p:txBody>
      </p:sp>
      <p:sp>
        <p:nvSpPr>
          <p:cNvPr id="3" name="object 9">
            <a:extLst>
              <a:ext uri="{FF2B5EF4-FFF2-40B4-BE49-F238E27FC236}">
                <a16:creationId xmlns:a16="http://schemas.microsoft.com/office/drawing/2014/main" id="{47D2EEB9-62A4-B312-4A82-E940C7919F2B}"/>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xfrm>
            <a:off x="11277600" y="6466776"/>
            <a:ext cx="270103" cy="153888"/>
          </a:xfrm>
          <a:prstGeom prst="rect">
            <a:avLst/>
          </a:prstGeom>
        </p:spPr>
        <p:txBody>
          <a:bodyPr vert="horz" wrap="square" lIns="0" tIns="0" rIns="0" bIns="0" rtlCol="0">
            <a:spAutoFit/>
          </a:bodyPr>
          <a:lstStyle/>
          <a:p>
            <a:pPr marL="38100">
              <a:lnSpc>
                <a:spcPts val="1240"/>
              </a:lnSpc>
            </a:pPr>
            <a:fld id="{81D60167-4931-47E6-BA6A-407CBD079E47}" type="slidenum">
              <a:rPr spc="-50" dirty="0"/>
              <a:t>9</a:t>
            </a:fld>
            <a:endParaRPr spc="-50" dirty="0"/>
          </a:p>
        </p:txBody>
      </p:sp>
      <p:sp>
        <p:nvSpPr>
          <p:cNvPr id="2" name="object 2"/>
          <p:cNvSpPr txBox="1">
            <a:spLocks noGrp="1"/>
          </p:cNvSpPr>
          <p:nvPr>
            <p:ph type="title"/>
          </p:nvPr>
        </p:nvSpPr>
        <p:spPr>
          <a:xfrm>
            <a:off x="609600" y="274638"/>
            <a:ext cx="10972800" cy="868680"/>
          </a:xfrm>
          <a:prstGeom prst="rect">
            <a:avLst/>
          </a:prstGeom>
          <a:solidFill>
            <a:srgbClr val="17365D"/>
          </a:solidFill>
        </p:spPr>
        <p:txBody>
          <a:bodyPr vert="horz" wrap="square" lIns="0" tIns="141605" rIns="0" bIns="0" rtlCol="0">
            <a:spAutoFit/>
          </a:bodyPr>
          <a:lstStyle/>
          <a:p>
            <a:pPr algn="ctr">
              <a:lnSpc>
                <a:spcPct val="100000"/>
              </a:lnSpc>
              <a:spcBef>
                <a:spcPts val="1115"/>
              </a:spcBef>
            </a:pPr>
            <a:r>
              <a:rPr spc="-10" dirty="0"/>
              <a:t>SCOPE</a:t>
            </a:r>
          </a:p>
        </p:txBody>
      </p:sp>
      <p:sp>
        <p:nvSpPr>
          <p:cNvPr id="8" name="TextBox 7">
            <a:extLst>
              <a:ext uri="{FF2B5EF4-FFF2-40B4-BE49-F238E27FC236}">
                <a16:creationId xmlns:a16="http://schemas.microsoft.com/office/drawing/2014/main" id="{9516EF33-2FC1-38AC-6287-6887B93CAAFC}"/>
              </a:ext>
            </a:extLst>
          </p:cNvPr>
          <p:cNvSpPr txBox="1"/>
          <p:nvPr/>
        </p:nvSpPr>
        <p:spPr>
          <a:xfrm>
            <a:off x="604520" y="1524000"/>
            <a:ext cx="10972799" cy="2241960"/>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Assists deaf, hard-of-hearing, blind and </a:t>
            </a:r>
            <a:r>
              <a:rPr lang="en-US" sz="2400" dirty="0" err="1">
                <a:latin typeface="Times New Roman" panose="02020603050405020304" pitchFamily="18" charset="0"/>
                <a:cs typeface="Times New Roman" panose="02020603050405020304" pitchFamily="18" charset="0"/>
              </a:rPr>
              <a:t>deafdumb</a:t>
            </a:r>
            <a:r>
              <a:rPr lang="en-US" sz="2400" dirty="0">
                <a:latin typeface="Times New Roman" panose="02020603050405020304" pitchFamily="18" charset="0"/>
                <a:cs typeface="Times New Roman" panose="02020603050405020304" pitchFamily="18" charset="0"/>
              </a:rPr>
              <a:t> communities.</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Usable in education, daily communication, and social integration.</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Enables smart home control and gesture-based accessibility.</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Promotes inclusivity using wearable assistive technology.</a:t>
            </a:r>
            <a:endParaRPr lang="en-IN" sz="2400" dirty="0">
              <a:latin typeface="Times New Roman" panose="02020603050405020304" pitchFamily="18" charset="0"/>
              <a:cs typeface="Times New Roman" panose="02020603050405020304" pitchFamily="18" charset="0"/>
            </a:endParaRPr>
          </a:p>
        </p:txBody>
      </p:sp>
      <p:sp>
        <p:nvSpPr>
          <p:cNvPr id="3" name="object 9">
            <a:extLst>
              <a:ext uri="{FF2B5EF4-FFF2-40B4-BE49-F238E27FC236}">
                <a16:creationId xmlns:a16="http://schemas.microsoft.com/office/drawing/2014/main" id="{193FB1F0-9351-B56D-512F-BCDDD9417E52}"/>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4038600" y="6477000"/>
            <a:ext cx="4038600" cy="156068"/>
          </a:xfrm>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r>
              <a:rPr lang="en-US" spc="-25" dirty="0"/>
              <a:t> </a:t>
            </a: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10</a:t>
            </a:fld>
            <a:endParaRPr spc="-25" dirty="0"/>
          </a:p>
        </p:txBody>
      </p:sp>
      <p:sp>
        <p:nvSpPr>
          <p:cNvPr id="2" name="object 2"/>
          <p:cNvSpPr txBox="1">
            <a:spLocks noGrp="1"/>
          </p:cNvSpPr>
          <p:nvPr>
            <p:ph type="title"/>
          </p:nvPr>
        </p:nvSpPr>
        <p:spPr>
          <a:xfrm>
            <a:off x="608372" y="154642"/>
            <a:ext cx="10972800" cy="868680"/>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sz="2800" spc="-10" dirty="0"/>
              <a:t>HARDWARE</a:t>
            </a:r>
            <a:r>
              <a:rPr sz="2800" spc="-85" dirty="0"/>
              <a:t> </a:t>
            </a:r>
            <a:r>
              <a:rPr sz="2800" dirty="0"/>
              <a:t>AND</a:t>
            </a:r>
            <a:r>
              <a:rPr sz="2800" spc="-80" dirty="0"/>
              <a:t> </a:t>
            </a:r>
            <a:r>
              <a:rPr sz="2800" dirty="0"/>
              <a:t>SOFTWARE</a:t>
            </a:r>
            <a:r>
              <a:rPr sz="2800" spc="-85" dirty="0"/>
              <a:t> </a:t>
            </a:r>
            <a:r>
              <a:rPr sz="2800" spc="-10" dirty="0"/>
              <a:t>REQUIREMENTS</a:t>
            </a:r>
            <a:endParaRPr sz="2800" dirty="0"/>
          </a:p>
        </p:txBody>
      </p:sp>
      <p:sp>
        <p:nvSpPr>
          <p:cNvPr id="15" name="TextBox 14">
            <a:extLst>
              <a:ext uri="{FF2B5EF4-FFF2-40B4-BE49-F238E27FC236}">
                <a16:creationId xmlns:a16="http://schemas.microsoft.com/office/drawing/2014/main" id="{6CDFF967-84CE-ECD2-7611-D8886DD4F7C5}"/>
              </a:ext>
            </a:extLst>
          </p:cNvPr>
          <p:cNvSpPr txBox="1"/>
          <p:nvPr/>
        </p:nvSpPr>
        <p:spPr>
          <a:xfrm>
            <a:off x="657545" y="904756"/>
            <a:ext cx="10134600" cy="5724644"/>
          </a:xfrm>
          <a:prstGeom prst="rect">
            <a:avLst/>
          </a:prstGeom>
          <a:noFill/>
        </p:spPr>
        <p:txBody>
          <a:bodyPr wrap="square" rtlCol="0">
            <a:spAutoFit/>
          </a:bodyPr>
          <a:lstStyle/>
          <a:p>
            <a:pPr>
              <a:lnSpc>
                <a:spcPct val="150000"/>
              </a:lnSpc>
            </a:pPr>
            <a:r>
              <a:rPr lang="en-IN" sz="2400" b="1" u="sng" dirty="0">
                <a:latin typeface="Times New Roman" panose="02020603050405020304" pitchFamily="18" charset="0"/>
                <a:cs typeface="Times New Roman" panose="02020603050405020304" pitchFamily="18" charset="0"/>
              </a:rPr>
              <a:t>Hardware components :-</a:t>
            </a:r>
          </a:p>
          <a:p>
            <a:pPr>
              <a:lnSpc>
                <a:spcPct val="150000"/>
              </a:lnSpc>
            </a:pPr>
            <a:r>
              <a:rPr lang="en-IN" sz="2400" dirty="0">
                <a:latin typeface="Times New Roman" panose="02020603050405020304" pitchFamily="18" charset="0"/>
                <a:cs typeface="Times New Roman" panose="02020603050405020304" pitchFamily="18" charset="0"/>
              </a:rPr>
              <a:t>1. Flex Sensors (x5)</a:t>
            </a:r>
          </a:p>
          <a:p>
            <a:pPr>
              <a:lnSpc>
                <a:spcPct val="150000"/>
              </a:lnSpc>
            </a:pPr>
            <a:r>
              <a:rPr lang="en-IN" sz="2400" dirty="0">
                <a:latin typeface="Times New Roman" panose="02020603050405020304" pitchFamily="18" charset="0"/>
                <a:cs typeface="Times New Roman" panose="02020603050405020304" pitchFamily="18" charset="0"/>
              </a:rPr>
              <a:t>2. MPU6050 (IMU sensor)</a:t>
            </a:r>
          </a:p>
          <a:p>
            <a:pPr>
              <a:lnSpc>
                <a:spcPct val="150000"/>
              </a:lnSpc>
            </a:pPr>
            <a:r>
              <a:rPr lang="en-IN" sz="2400" dirty="0">
                <a:latin typeface="Times New Roman" panose="02020603050405020304" pitchFamily="18" charset="0"/>
                <a:cs typeface="Times New Roman" panose="02020603050405020304" pitchFamily="18" charset="0"/>
              </a:rPr>
              <a:t>3. Microcontroller (Arduino Nano)</a:t>
            </a:r>
          </a:p>
          <a:p>
            <a:pPr>
              <a:lnSpc>
                <a:spcPct val="150000"/>
              </a:lnSpc>
            </a:pPr>
            <a:r>
              <a:rPr lang="en-IN" sz="2400" dirty="0">
                <a:latin typeface="Times New Roman" panose="02020603050405020304" pitchFamily="18" charset="0"/>
                <a:cs typeface="Times New Roman" panose="02020603050405020304" pitchFamily="18" charset="0"/>
              </a:rPr>
              <a:t>4. LCD Display </a:t>
            </a:r>
          </a:p>
          <a:p>
            <a:pPr>
              <a:lnSpc>
                <a:spcPct val="150000"/>
              </a:lnSpc>
            </a:pPr>
            <a:r>
              <a:rPr lang="en-IN" sz="2400" dirty="0">
                <a:latin typeface="Times New Roman" panose="02020603050405020304" pitchFamily="18" charset="0"/>
                <a:cs typeface="Times New Roman" panose="02020603050405020304" pitchFamily="18" charset="0"/>
              </a:rPr>
              <a:t>5. Audio Output Module </a:t>
            </a:r>
          </a:p>
          <a:p>
            <a:pPr>
              <a:lnSpc>
                <a:spcPct val="150000"/>
              </a:lnSpc>
            </a:pPr>
            <a:r>
              <a:rPr lang="en-IN" sz="2400" dirty="0">
                <a:latin typeface="Times New Roman" panose="02020603050405020304" pitchFamily="18" charset="0"/>
                <a:cs typeface="Times New Roman" panose="02020603050405020304" pitchFamily="18" charset="0"/>
              </a:rPr>
              <a:t>6. Speaker (8Ω 1W or similar)</a:t>
            </a:r>
          </a:p>
          <a:p>
            <a:pPr>
              <a:lnSpc>
                <a:spcPct val="150000"/>
              </a:lnSpc>
            </a:pPr>
            <a:r>
              <a:rPr lang="en-IN" sz="2400" dirty="0">
                <a:latin typeface="Times New Roman" panose="02020603050405020304" pitchFamily="18" charset="0"/>
                <a:cs typeface="Times New Roman" panose="02020603050405020304" pitchFamily="18" charset="0"/>
              </a:rPr>
              <a:t>7. Battery (Li-ion 3.7V) with TP4056 charging module</a:t>
            </a:r>
          </a:p>
          <a:p>
            <a:pPr>
              <a:lnSpc>
                <a:spcPct val="150000"/>
              </a:lnSpc>
            </a:pPr>
            <a:r>
              <a:rPr lang="en-IN" sz="2400" dirty="0">
                <a:latin typeface="Times New Roman" panose="02020603050405020304" pitchFamily="18" charset="0"/>
                <a:cs typeface="Times New Roman" panose="02020603050405020304" pitchFamily="18" charset="0"/>
              </a:rPr>
              <a:t>8. Voltage Regulator (e.g., AMS1117)</a:t>
            </a:r>
          </a:p>
          <a:p>
            <a:pPr>
              <a:lnSpc>
                <a:spcPct val="150000"/>
              </a:lnSpc>
            </a:pPr>
            <a:r>
              <a:rPr lang="en-IN" sz="2400" dirty="0">
                <a:latin typeface="Times New Roman" panose="02020603050405020304" pitchFamily="18" charset="0"/>
                <a:cs typeface="Times New Roman" panose="02020603050405020304" pitchFamily="18" charset="0"/>
              </a:rPr>
              <a:t>9. Jumper Wires, Breadboard/PCB, Glove, Velcro Straps</a:t>
            </a:r>
          </a:p>
        </p:txBody>
      </p:sp>
      <p:sp>
        <p:nvSpPr>
          <p:cNvPr id="3" name="object 9">
            <a:extLst>
              <a:ext uri="{FF2B5EF4-FFF2-40B4-BE49-F238E27FC236}">
                <a16:creationId xmlns:a16="http://schemas.microsoft.com/office/drawing/2014/main" id="{7FF3989C-2FF4-A98A-7785-38C0479D7820}"/>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
        <p:nvSpPr>
          <p:cNvPr id="5" name="Rectangle 4"/>
          <p:cNvSpPr/>
          <p:nvPr/>
        </p:nvSpPr>
        <p:spPr>
          <a:xfrm>
            <a:off x="7315200" y="851618"/>
            <a:ext cx="6096000" cy="3996287"/>
          </a:xfrm>
          <a:prstGeom prst="rect">
            <a:avLst/>
          </a:prstGeom>
        </p:spPr>
        <p:txBody>
          <a:bodyPr>
            <a:spAutoFit/>
          </a:bodyPr>
          <a:lstStyle/>
          <a:p>
            <a:pPr>
              <a:lnSpc>
                <a:spcPct val="150000"/>
              </a:lnSpc>
            </a:pPr>
            <a:r>
              <a:rPr lang="en-IN" sz="2400" b="1" u="sng" dirty="0">
                <a:latin typeface="Times New Roman" panose="02020603050405020304" pitchFamily="18" charset="0"/>
                <a:cs typeface="Times New Roman" panose="02020603050405020304" pitchFamily="18" charset="0"/>
              </a:rPr>
              <a:t>Software Components :-</a:t>
            </a:r>
          </a:p>
          <a:p>
            <a:pPr>
              <a:lnSpc>
                <a:spcPct val="150000"/>
              </a:lnSpc>
            </a:pPr>
            <a:r>
              <a:rPr lang="en-IN" sz="2400" dirty="0">
                <a:latin typeface="Times New Roman" panose="02020603050405020304" pitchFamily="18" charset="0"/>
                <a:cs typeface="Times New Roman" panose="02020603050405020304" pitchFamily="18" charset="0"/>
              </a:rPr>
              <a:t>1. </a:t>
            </a:r>
            <a:r>
              <a:rPr lang="en-IN" sz="2400" dirty="0" err="1">
                <a:latin typeface="Times New Roman" panose="02020603050405020304" pitchFamily="18" charset="0"/>
                <a:cs typeface="Times New Roman" panose="02020603050405020304" pitchFamily="18" charset="0"/>
              </a:rPr>
              <a:t>Arduino</a:t>
            </a:r>
            <a:r>
              <a:rPr lang="en-IN" sz="2400" dirty="0">
                <a:latin typeface="Times New Roman" panose="02020603050405020304" pitchFamily="18" charset="0"/>
                <a:cs typeface="Times New Roman" panose="02020603050405020304" pitchFamily="18" charset="0"/>
              </a:rPr>
              <a:t> IDE (or </a:t>
            </a:r>
            <a:r>
              <a:rPr lang="en-IN" sz="2400" dirty="0" err="1">
                <a:latin typeface="Times New Roman" panose="02020603050405020304" pitchFamily="18" charset="0"/>
                <a:cs typeface="Times New Roman" panose="02020603050405020304" pitchFamily="18" charset="0"/>
              </a:rPr>
              <a:t>PlatformIO</a:t>
            </a:r>
            <a:r>
              <a:rPr lang="en-IN" sz="2400" dirty="0">
                <a:latin typeface="Times New Roman" panose="02020603050405020304" pitchFamily="18" charset="0"/>
                <a:cs typeface="Times New Roman" panose="02020603050405020304" pitchFamily="18" charset="0"/>
              </a:rPr>
              <a:t>)</a:t>
            </a:r>
          </a:p>
          <a:p>
            <a:pPr>
              <a:lnSpc>
                <a:spcPct val="150000"/>
              </a:lnSpc>
            </a:pPr>
            <a:r>
              <a:rPr lang="en-IN" sz="2400" dirty="0">
                <a:latin typeface="Times New Roman" panose="02020603050405020304" pitchFamily="18" charset="0"/>
                <a:cs typeface="Times New Roman" panose="02020603050405020304" pitchFamily="18" charset="0"/>
              </a:rPr>
              <a:t>2. </a:t>
            </a:r>
            <a:r>
              <a:rPr lang="en-IN" sz="2400" dirty="0" err="1">
                <a:latin typeface="Times New Roman" panose="02020603050405020304" pitchFamily="18" charset="0"/>
                <a:cs typeface="Times New Roman" panose="02020603050405020304" pitchFamily="18" charset="0"/>
              </a:rPr>
              <a:t>Arduino</a:t>
            </a:r>
            <a:r>
              <a:rPr lang="en-IN" sz="2400" dirty="0">
                <a:latin typeface="Times New Roman" panose="02020603050405020304" pitchFamily="18" charset="0"/>
                <a:cs typeface="Times New Roman" panose="02020603050405020304" pitchFamily="18" charset="0"/>
              </a:rPr>
              <a:t> Libraries</a:t>
            </a:r>
          </a:p>
          <a:p>
            <a:pPr>
              <a:lnSpc>
                <a:spcPct val="150000"/>
              </a:lnSpc>
            </a:pPr>
            <a:r>
              <a:rPr lang="en-IN" sz="2400" dirty="0">
                <a:latin typeface="Times New Roman" panose="02020603050405020304" pitchFamily="18" charset="0"/>
                <a:cs typeface="Times New Roman" panose="02020603050405020304" pitchFamily="18" charset="0"/>
              </a:rPr>
              <a:t>3. Gesture Detection Logic</a:t>
            </a:r>
          </a:p>
          <a:p>
            <a:pPr>
              <a:lnSpc>
                <a:spcPct val="150000"/>
              </a:lnSpc>
            </a:pPr>
            <a:r>
              <a:rPr lang="en-IN" sz="2400" dirty="0">
                <a:latin typeface="Times New Roman" panose="02020603050405020304" pitchFamily="18" charset="0"/>
                <a:cs typeface="Times New Roman" panose="02020603050405020304" pitchFamily="18" charset="0"/>
              </a:rPr>
              <a:t>4. Audio Files (MP3 or .AD4)</a:t>
            </a:r>
          </a:p>
          <a:p>
            <a:pPr>
              <a:lnSpc>
                <a:spcPct val="150000"/>
              </a:lnSpc>
            </a:pPr>
            <a:r>
              <a:rPr lang="en-IN" sz="2400" dirty="0">
                <a:latin typeface="Times New Roman" panose="02020603050405020304" pitchFamily="18" charset="0"/>
                <a:cs typeface="Times New Roman" panose="02020603050405020304" pitchFamily="18" charset="0"/>
              </a:rPr>
              <a:t>5. Dataset Collection </a:t>
            </a:r>
          </a:p>
          <a:p>
            <a:pPr>
              <a:lnSpc>
                <a:spcPct val="150000"/>
              </a:lnSpc>
            </a:pPr>
            <a:r>
              <a:rPr lang="en-IN" sz="2400" dirty="0">
                <a:latin typeface="Times New Roman" panose="02020603050405020304" pitchFamily="18" charset="0"/>
                <a:cs typeface="Times New Roman" panose="02020603050405020304" pitchFamily="18" charset="0"/>
              </a:rPr>
              <a:t>6. Serial Monitor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xfrm>
            <a:off x="11381332" y="6466776"/>
            <a:ext cx="201067" cy="159390"/>
          </a:xfrm>
          <a:prstGeom prst="rect">
            <a:avLst/>
          </a:prstGeom>
        </p:spPr>
        <p:txBody>
          <a:bodyPr vert="horz" wrap="square" lIns="0" tIns="0" rIns="0" bIns="0" rtlCol="0">
            <a:spAutoFit/>
          </a:bodyPr>
          <a:lstStyle/>
          <a:p>
            <a:pPr marL="38100">
              <a:lnSpc>
                <a:spcPts val="1240"/>
              </a:lnSpc>
            </a:pPr>
            <a:fld id="{81D60167-4931-47E6-BA6A-407CBD079E47}" type="slidenum">
              <a:rPr spc="-50" dirty="0"/>
              <a:t>11</a:t>
            </a:fld>
            <a:endParaRPr spc="-50" dirty="0"/>
          </a:p>
        </p:txBody>
      </p:sp>
      <p:sp>
        <p:nvSpPr>
          <p:cNvPr id="3" name="object 9">
            <a:extLst>
              <a:ext uri="{FF2B5EF4-FFF2-40B4-BE49-F238E27FC236}">
                <a16:creationId xmlns:a16="http://schemas.microsoft.com/office/drawing/2014/main" id="{47D2EEB9-62A4-B312-4A82-E940C7919F2B}"/>
              </a:ext>
            </a:extLst>
          </p:cNvPr>
          <p:cNvSpPr txBox="1"/>
          <p:nvPr/>
        </p:nvSpPr>
        <p:spPr>
          <a:xfrm>
            <a:off x="682624" y="6428676"/>
            <a:ext cx="765175" cy="394980"/>
          </a:xfrm>
          <a:prstGeom prst="rect">
            <a:avLst/>
          </a:prstGeom>
        </p:spPr>
        <p:txBody>
          <a:bodyPr vert="horz" wrap="square" lIns="0" tIns="12700" rIns="0" bIns="0" rtlCol="0">
            <a:spAutoFit/>
          </a:bodyPr>
          <a:lstStyle/>
          <a:p>
            <a:pPr marL="12700">
              <a:spcBef>
                <a:spcPts val="100"/>
              </a:spcBef>
            </a:pPr>
            <a:r>
              <a:rPr lang="en-IN" sz="1200" spc="-20" dirty="0">
                <a:solidFill>
                  <a:srgbClr val="888888"/>
                </a:solidFill>
                <a:latin typeface="Calibri"/>
                <a:cs typeface="Calibri"/>
              </a:rPr>
              <a:t>03-Mar-25</a:t>
            </a:r>
            <a:endParaRPr lang="en-IN" sz="1200" dirty="0">
              <a:latin typeface="Calibri"/>
              <a:cs typeface="Calibri"/>
            </a:endParaRPr>
          </a:p>
          <a:p>
            <a:pPr marL="12700">
              <a:lnSpc>
                <a:spcPct val="100000"/>
              </a:lnSpc>
              <a:spcBef>
                <a:spcPts val="100"/>
              </a:spcBef>
            </a:pPr>
            <a:endParaRPr lang="en-IN" sz="1200" dirty="0">
              <a:latin typeface="Calibri"/>
              <a:cs typeface="Calibri"/>
            </a:endParaRPr>
          </a:p>
        </p:txBody>
      </p:sp>
      <p:sp>
        <p:nvSpPr>
          <p:cNvPr id="9" name="object 2">
            <a:extLst>
              <a:ext uri="{FF2B5EF4-FFF2-40B4-BE49-F238E27FC236}">
                <a16:creationId xmlns:a16="http://schemas.microsoft.com/office/drawing/2014/main" id="{1D2DD5EF-74BF-5A1F-0E6F-AB6DFEEBF50C}"/>
              </a:ext>
            </a:extLst>
          </p:cNvPr>
          <p:cNvSpPr txBox="1">
            <a:spLocks/>
          </p:cNvSpPr>
          <p:nvPr/>
        </p:nvSpPr>
        <p:spPr>
          <a:xfrm>
            <a:off x="659475" y="268436"/>
            <a:ext cx="10972800" cy="868680"/>
          </a:xfrm>
          <a:prstGeom prst="rect">
            <a:avLst/>
          </a:prstGeom>
          <a:solidFill>
            <a:srgbClr val="17365D"/>
          </a:solidFill>
        </p:spPr>
        <p:txBody>
          <a:bodyPr vert="horz" wrap="square" lIns="0" tIns="141605" rIns="0" bIns="0" rtlCol="0">
            <a:spAutoFit/>
          </a:bodyPr>
          <a:lstStyle>
            <a:lvl1pPr>
              <a:defRPr sz="3600" b="1" i="0">
                <a:solidFill>
                  <a:schemeClr val="bg1"/>
                </a:solidFill>
                <a:latin typeface="Times New Roman"/>
                <a:ea typeface="+mj-ea"/>
                <a:cs typeface="Times New Roman"/>
              </a:defRPr>
            </a:lvl1pPr>
          </a:lstStyle>
          <a:p>
            <a:pPr algn="ctr">
              <a:spcBef>
                <a:spcPts val="1115"/>
              </a:spcBef>
            </a:pPr>
            <a:r>
              <a:rPr lang="en-US"/>
              <a:t>ARCHITECTURE</a:t>
            </a:r>
            <a:r>
              <a:rPr lang="en-US" spc="-70"/>
              <a:t> </a:t>
            </a:r>
            <a:r>
              <a:rPr lang="en-US" spc="-10"/>
              <a:t>DIAGRAM</a:t>
            </a:r>
            <a:endParaRPr lang="en-US" spc="-10" dirty="0"/>
          </a:p>
        </p:txBody>
      </p:sp>
      <p:pic>
        <p:nvPicPr>
          <p:cNvPr id="10" name="Picture 9">
            <a:extLst>
              <a:ext uri="{FF2B5EF4-FFF2-40B4-BE49-F238E27FC236}">
                <a16:creationId xmlns:a16="http://schemas.microsoft.com/office/drawing/2014/main" id="{01A307B6-6624-BA6A-34E4-3F854557F063}"/>
              </a:ext>
            </a:extLst>
          </p:cNvPr>
          <p:cNvPicPr>
            <a:picLocks noChangeAspect="1"/>
          </p:cNvPicPr>
          <p:nvPr/>
        </p:nvPicPr>
        <p:blipFill>
          <a:blip r:embed="rId2"/>
          <a:stretch>
            <a:fillRect/>
          </a:stretch>
        </p:blipFill>
        <p:spPr>
          <a:xfrm>
            <a:off x="532169" y="1295400"/>
            <a:ext cx="11125200" cy="5016568"/>
          </a:xfrm>
          <a:prstGeom prst="rect">
            <a:avLst/>
          </a:prstGeom>
        </p:spPr>
      </p:pic>
    </p:spTree>
    <p:extLst>
      <p:ext uri="{BB962C8B-B14F-4D97-AF65-F5344CB8AC3E}">
        <p14:creationId xmlns:p14="http://schemas.microsoft.com/office/powerpoint/2010/main" val="3568723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12</a:t>
            </a:fld>
            <a:endParaRPr spc="-25" dirty="0"/>
          </a:p>
        </p:txBody>
      </p:sp>
      <p:sp>
        <p:nvSpPr>
          <p:cNvPr id="2" name="object 2"/>
          <p:cNvSpPr txBox="1">
            <a:spLocks noGrp="1"/>
          </p:cNvSpPr>
          <p:nvPr>
            <p:ph type="title"/>
          </p:nvPr>
        </p:nvSpPr>
        <p:spPr>
          <a:xfrm>
            <a:off x="609600" y="274638"/>
            <a:ext cx="10972800" cy="868680"/>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sz="2800" dirty="0"/>
              <a:t>PROJECT</a:t>
            </a:r>
            <a:r>
              <a:rPr sz="2800" spc="-45" dirty="0"/>
              <a:t> </a:t>
            </a:r>
            <a:r>
              <a:rPr sz="2800" spc="-10" dirty="0"/>
              <a:t>MODULES</a:t>
            </a:r>
            <a:endParaRPr sz="2800"/>
          </a:p>
        </p:txBody>
      </p:sp>
      <p:sp>
        <p:nvSpPr>
          <p:cNvPr id="7" name="TextBox 6">
            <a:extLst>
              <a:ext uri="{FF2B5EF4-FFF2-40B4-BE49-F238E27FC236}">
                <a16:creationId xmlns:a16="http://schemas.microsoft.com/office/drawing/2014/main" id="{5404EA25-0A4F-4572-CC5E-A84CF4FC8D2C}"/>
              </a:ext>
            </a:extLst>
          </p:cNvPr>
          <p:cNvSpPr txBox="1"/>
          <p:nvPr/>
        </p:nvSpPr>
        <p:spPr>
          <a:xfrm>
            <a:off x="647064" y="914400"/>
            <a:ext cx="9220200" cy="5078313"/>
          </a:xfrm>
          <a:prstGeom prst="rect">
            <a:avLst/>
          </a:prstGeom>
          <a:noFill/>
        </p:spPr>
        <p:txBody>
          <a:bodyPr wrap="square" rtlCol="0">
            <a:spAutoFit/>
          </a:bodyPr>
          <a:lstStyle/>
          <a:p>
            <a:pPr>
              <a:lnSpc>
                <a:spcPct val="150000"/>
              </a:lnSpc>
            </a:pPr>
            <a:r>
              <a:rPr lang="en-US" sz="2400" b="1" dirty="0">
                <a:latin typeface="Times New Roman" pitchFamily="18" charset="0"/>
                <a:cs typeface="Times New Roman" pitchFamily="18" charset="0"/>
              </a:rPr>
              <a:t> </a:t>
            </a:r>
          </a:p>
          <a:p>
            <a:pPr>
              <a:lnSpc>
                <a:spcPct val="150000"/>
              </a:lnSpc>
            </a:pPr>
            <a:r>
              <a:rPr lang="en-US" sz="2400" dirty="0">
                <a:latin typeface="Times New Roman" panose="02020603050405020304" pitchFamily="18" charset="0"/>
                <a:cs typeface="Times New Roman" panose="02020603050405020304" pitchFamily="18" charset="0"/>
              </a:rPr>
              <a:t>Module 1: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Hardware Setup &amp; Integration</a:t>
            </a:r>
          </a:p>
          <a:p>
            <a:pPr lvl="0" algn="l" rtl="0">
              <a:lnSpc>
                <a:spcPct val="150000"/>
              </a:lnSpc>
            </a:pPr>
            <a:r>
              <a:rPr lang="en-US" sz="2400" dirty="0">
                <a:latin typeface="Times New Roman" panose="02020603050405020304" pitchFamily="18" charset="0"/>
                <a:cs typeface="Times New Roman" panose="02020603050405020304" pitchFamily="18" charset="0"/>
              </a:rPr>
              <a:t>Module 2: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 Calibration</a:t>
            </a:r>
            <a:endParaRPr lang="en-IN" sz="2400" dirty="0"/>
          </a:p>
          <a:p>
            <a:pPr lvl="0" algn="l" rtl="0">
              <a:lnSpc>
                <a:spcPct val="150000"/>
              </a:lnSpc>
            </a:pPr>
            <a:r>
              <a:rPr lang="en-US" sz="2400" dirty="0">
                <a:latin typeface="Times New Roman" panose="02020603050405020304" pitchFamily="18" charset="0"/>
                <a:cs typeface="Times New Roman" panose="02020603050405020304" pitchFamily="18" charset="0"/>
              </a:rPr>
              <a:t>Module 3: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Signal Processing</a:t>
            </a:r>
            <a:endParaRPr lang="en-US" sz="2400" dirty="0">
              <a:latin typeface="Times New Roman" panose="02020603050405020304" pitchFamily="18" charset="0"/>
              <a:cs typeface="Times New Roman" panose="02020603050405020304" pitchFamily="18" charset="0"/>
            </a:endParaRPr>
          </a:p>
          <a:p>
            <a:pPr lvl="0" algn="l" rtl="0">
              <a:lnSpc>
                <a:spcPct val="150000"/>
              </a:lnSpc>
            </a:pPr>
            <a:r>
              <a:rPr lang="en-US" sz="2400" dirty="0">
                <a:latin typeface="Times New Roman" panose="02020603050405020304" pitchFamily="18" charset="0"/>
                <a:cs typeface="Times New Roman" panose="02020603050405020304" pitchFamily="18" charset="0"/>
              </a:rPr>
              <a:t>Module 4: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Gesture Recognition</a:t>
            </a:r>
            <a:endParaRPr lang="en-IN"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tabLst/>
            </a:pPr>
            <a:r>
              <a:rPr lang="en-IN" sz="2400" dirty="0">
                <a:latin typeface="Times New Roman" panose="02020603050405020304" pitchFamily="18" charset="0"/>
                <a:cs typeface="Times New Roman" panose="02020603050405020304" pitchFamily="18" charset="0"/>
              </a:rPr>
              <a:t>Module 5: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 to LCD Display</a:t>
            </a:r>
          </a:p>
          <a:p>
            <a:pPr lvl="0" algn="l" rtl="0">
              <a:lnSpc>
                <a:spcPct val="150000"/>
              </a:lnSpc>
            </a:pPr>
            <a:r>
              <a:rPr lang="en-US" sz="2400" dirty="0">
                <a:latin typeface="Times New Roman" panose="02020603050405020304" pitchFamily="18" charset="0"/>
                <a:cs typeface="Times New Roman" panose="02020603050405020304" pitchFamily="18" charset="0"/>
              </a:rPr>
              <a:t>Module 6: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Audio Output (Speech Conversion)</a:t>
            </a:r>
            <a:endParaRPr lang="en-US" sz="2400" dirty="0">
              <a:latin typeface="Times New Roman" panose="02020603050405020304" pitchFamily="18" charset="0"/>
              <a:cs typeface="Times New Roman" panose="02020603050405020304" pitchFamily="18" charset="0"/>
            </a:endParaRPr>
          </a:p>
          <a:p>
            <a:pPr lvl="0" algn="l" rtl="0">
              <a:lnSpc>
                <a:spcPct val="150000"/>
              </a:lnSpc>
            </a:pPr>
            <a:r>
              <a:rPr lang="en-IN" sz="2400" dirty="0">
                <a:latin typeface="Times New Roman" panose="02020603050405020304" pitchFamily="18" charset="0"/>
                <a:cs typeface="Times New Roman" panose="02020603050405020304" pitchFamily="18" charset="0"/>
              </a:rPr>
              <a:t>Module 7: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Testing &amp; Applications</a:t>
            </a:r>
            <a:endParaRPr 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tabLst/>
            </a:pPr>
            <a:r>
              <a:rPr lang="en-US" sz="2400" dirty="0">
                <a:latin typeface="Times New Roman" panose="02020603050405020304" pitchFamily="18" charset="0"/>
                <a:cs typeface="Times New Roman" panose="02020603050405020304" pitchFamily="18" charset="0"/>
              </a:rPr>
              <a:t>Module 8: </a:t>
            </a:r>
            <a:r>
              <a:rPr lang="en-US" altLang="en-US" sz="2400" dirty="0">
                <a:solidFill>
                  <a:schemeClr val="tx1"/>
                </a:solidFill>
                <a:latin typeface="Times New Roman" panose="02020603050405020304" pitchFamily="18" charset="0"/>
                <a:cs typeface="Times New Roman" panose="02020603050405020304" pitchFamily="18" charset="0"/>
              </a:rPr>
              <a:t>Mobile Application Integration</a:t>
            </a: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object 9">
            <a:extLst>
              <a:ext uri="{FF2B5EF4-FFF2-40B4-BE49-F238E27FC236}">
                <a16:creationId xmlns:a16="http://schemas.microsoft.com/office/drawing/2014/main" id="{CCFA8299-5EF0-28C0-BDFE-CA6740EE4C65}"/>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13</a:t>
            </a:fld>
            <a:endParaRPr spc="-25" dirty="0"/>
          </a:p>
        </p:txBody>
      </p:sp>
      <p:sp>
        <p:nvSpPr>
          <p:cNvPr id="2" name="object 2"/>
          <p:cNvSpPr txBox="1">
            <a:spLocks noGrp="1"/>
          </p:cNvSpPr>
          <p:nvPr>
            <p:ph type="title"/>
          </p:nvPr>
        </p:nvSpPr>
        <p:spPr>
          <a:xfrm>
            <a:off x="609600" y="274638"/>
            <a:ext cx="10972800" cy="839332"/>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lang="en-US" dirty="0"/>
              <a:t>MODULES DESCRIPTION</a:t>
            </a:r>
            <a:br>
              <a:rPr lang="en-US" dirty="0"/>
            </a:br>
            <a:endParaRPr sz="500" dirty="0"/>
          </a:p>
        </p:txBody>
      </p:sp>
      <p:sp>
        <p:nvSpPr>
          <p:cNvPr id="7" name="TextBox 6">
            <a:extLst>
              <a:ext uri="{FF2B5EF4-FFF2-40B4-BE49-F238E27FC236}">
                <a16:creationId xmlns:a16="http://schemas.microsoft.com/office/drawing/2014/main" id="{5404EA25-0A4F-4572-CC5E-A84CF4FC8D2C}"/>
              </a:ext>
            </a:extLst>
          </p:cNvPr>
          <p:cNvSpPr txBox="1"/>
          <p:nvPr/>
        </p:nvSpPr>
        <p:spPr>
          <a:xfrm>
            <a:off x="682622" y="1371600"/>
            <a:ext cx="11128377" cy="4955203"/>
          </a:xfrm>
          <a:prstGeom prst="rect">
            <a:avLst/>
          </a:prstGeom>
          <a:noFill/>
        </p:spPr>
        <p:txBody>
          <a:bodyPr wrap="square" rtlCol="0">
            <a:spAutoFit/>
          </a:bodyPr>
          <a:lstStyle/>
          <a:p>
            <a:r>
              <a:rPr lang="en-US" sz="2400" b="1" u="sng" dirty="0">
                <a:latin typeface="Times New Roman" pitchFamily="18" charset="0"/>
                <a:cs typeface="Times New Roman" pitchFamily="18" charset="0"/>
              </a:rPr>
              <a:t>Module 1: Hardware Setup &amp; Integration</a:t>
            </a:r>
          </a:p>
          <a:p>
            <a:r>
              <a:rPr lang="en-US" sz="2000" dirty="0">
                <a:latin typeface="Times New Roman" pitchFamily="18" charset="0"/>
                <a:cs typeface="Times New Roman" pitchFamily="18" charset="0"/>
              </a:rPr>
              <a:t>	This module involves assembling and integrating all hardware components on the glove. Flex sensors, IMU, microcontroller, display, audio modules, microphone, and power supply are interconnected, with the microcontroller acting as the central unit to enable seamless bidirectional communication.</a:t>
            </a:r>
          </a:p>
          <a:p>
            <a:r>
              <a:rPr lang="en-US" sz="2400" b="1" u="sng" dirty="0">
                <a:latin typeface="Times New Roman" pitchFamily="18" charset="0"/>
                <a:cs typeface="Times New Roman" pitchFamily="18" charset="0"/>
              </a:rPr>
              <a:t>Module 2: Sensor Calibration</a:t>
            </a:r>
          </a:p>
          <a:p>
            <a:r>
              <a:rPr lang="en-US" sz="2000" dirty="0">
                <a:latin typeface="Times New Roman" pitchFamily="18" charset="0"/>
                <a:cs typeface="Times New Roman" pitchFamily="18" charset="0"/>
              </a:rPr>
              <a:t>	This module ensures accurate sensor readings by calibrating flex sensors, IMU, and microphone. Baseline and threshold values are set to reduce noise and adapt the system to different users and hand movements.</a:t>
            </a:r>
          </a:p>
          <a:p>
            <a:r>
              <a:rPr lang="en-US" sz="2400" b="1" u="sng" dirty="0">
                <a:latin typeface="Times New Roman" pitchFamily="18" charset="0"/>
                <a:cs typeface="Times New Roman" pitchFamily="18" charset="0"/>
              </a:rPr>
              <a:t>Module 3: Signal Processing</a:t>
            </a:r>
          </a:p>
          <a:p>
            <a:r>
              <a:rPr lang="en-US" sz="2000" dirty="0">
                <a:latin typeface="Times New Roman" pitchFamily="18" charset="0"/>
                <a:cs typeface="Times New Roman" pitchFamily="18" charset="0"/>
              </a:rPr>
              <a:t>	In this module, raw sensor data is collected and processed to remove noise and inconsistencies. The processed data is normalized and relevant features are extracted to prepare it for gesture recognition.</a:t>
            </a:r>
          </a:p>
          <a:p>
            <a:r>
              <a:rPr lang="en-US" sz="2400" b="1" u="sng" dirty="0">
                <a:latin typeface="Times New Roman" pitchFamily="18" charset="0"/>
                <a:cs typeface="Times New Roman" pitchFamily="18" charset="0"/>
              </a:rPr>
              <a:t>Module 4: Gesture Recognition</a:t>
            </a:r>
          </a:p>
          <a:p>
            <a:r>
              <a:rPr lang="en-US" sz="2000" dirty="0">
                <a:latin typeface="Times New Roman" pitchFamily="18" charset="0"/>
                <a:cs typeface="Times New Roman" pitchFamily="18" charset="0"/>
              </a:rPr>
              <a:t>	This module identifies hand gestures by analyzing processed sensor data. The extracted features are compared with predefined thresholds or trained models to recognize the correct gesture and generate the corresponding output.</a:t>
            </a:r>
          </a:p>
        </p:txBody>
      </p:sp>
      <p:sp>
        <p:nvSpPr>
          <p:cNvPr id="3" name="object 9">
            <a:extLst>
              <a:ext uri="{FF2B5EF4-FFF2-40B4-BE49-F238E27FC236}">
                <a16:creationId xmlns:a16="http://schemas.microsoft.com/office/drawing/2014/main" id="{6B23EC00-E1E4-EDA0-A986-F848D49CD8DA}"/>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extLst>
      <p:ext uri="{BB962C8B-B14F-4D97-AF65-F5344CB8AC3E}">
        <p14:creationId xmlns:p14="http://schemas.microsoft.com/office/powerpoint/2010/main" val="958110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14</a:t>
            </a:fld>
            <a:endParaRPr spc="-25" dirty="0"/>
          </a:p>
        </p:txBody>
      </p:sp>
      <p:sp>
        <p:nvSpPr>
          <p:cNvPr id="2" name="object 2"/>
          <p:cNvSpPr txBox="1">
            <a:spLocks noGrp="1"/>
          </p:cNvSpPr>
          <p:nvPr>
            <p:ph type="title"/>
          </p:nvPr>
        </p:nvSpPr>
        <p:spPr>
          <a:xfrm>
            <a:off x="609600" y="274638"/>
            <a:ext cx="10972800" cy="839332"/>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lang="en-US" dirty="0"/>
              <a:t>MODULES DESCRIPTION</a:t>
            </a:r>
            <a:br>
              <a:rPr lang="en-US" dirty="0"/>
            </a:br>
            <a:endParaRPr sz="500" dirty="0"/>
          </a:p>
        </p:txBody>
      </p:sp>
      <p:sp>
        <p:nvSpPr>
          <p:cNvPr id="7" name="TextBox 6">
            <a:extLst>
              <a:ext uri="{FF2B5EF4-FFF2-40B4-BE49-F238E27FC236}">
                <a16:creationId xmlns:a16="http://schemas.microsoft.com/office/drawing/2014/main" id="{5404EA25-0A4F-4572-CC5E-A84CF4FC8D2C}"/>
              </a:ext>
            </a:extLst>
          </p:cNvPr>
          <p:cNvSpPr txBox="1"/>
          <p:nvPr/>
        </p:nvSpPr>
        <p:spPr>
          <a:xfrm>
            <a:off x="682623" y="1295400"/>
            <a:ext cx="10899777" cy="4955203"/>
          </a:xfrm>
          <a:prstGeom prst="rect">
            <a:avLst/>
          </a:prstGeom>
          <a:noFill/>
        </p:spPr>
        <p:txBody>
          <a:bodyPr wrap="square" rtlCol="0">
            <a:spAutoFit/>
          </a:bodyPr>
          <a:lstStyle/>
          <a:p>
            <a:r>
              <a:rPr lang="en-US" sz="2400" b="1" u="sng" dirty="0">
                <a:latin typeface="Times New Roman" pitchFamily="18" charset="0"/>
                <a:cs typeface="Times New Roman" pitchFamily="18" charset="0"/>
              </a:rPr>
              <a:t>Module 5: Output to LCD Display</a:t>
            </a:r>
            <a:endParaRPr lang="en-US" sz="2000" b="1" u="sng" dirty="0">
              <a:latin typeface="Times New Roman" pitchFamily="18" charset="0"/>
              <a:cs typeface="Times New Roman" pitchFamily="18" charset="0"/>
            </a:endParaRPr>
          </a:p>
          <a:p>
            <a:r>
              <a:rPr lang="en-US" sz="2000" dirty="0">
                <a:latin typeface="Times New Roman" pitchFamily="18" charset="0"/>
                <a:cs typeface="Times New Roman" pitchFamily="18" charset="0"/>
              </a:rPr>
              <a:t>	This module displays the recognized gesture or converted speech as readable text on the LCD. It provides visual feedback to both hearing-impaired and hearing users for clear communication.</a:t>
            </a:r>
          </a:p>
          <a:p>
            <a:r>
              <a:rPr lang="en-US" sz="2400" b="1" u="sng" dirty="0">
                <a:latin typeface="Times New Roman" pitchFamily="18" charset="0"/>
                <a:cs typeface="Times New Roman" pitchFamily="18" charset="0"/>
              </a:rPr>
              <a:t>Module 6: Audio Output (Speech Conversion)</a:t>
            </a:r>
          </a:p>
          <a:p>
            <a:r>
              <a:rPr lang="en-US" sz="2000" dirty="0">
                <a:latin typeface="Times New Roman" pitchFamily="18" charset="0"/>
                <a:cs typeface="Times New Roman" pitchFamily="18" charset="0"/>
              </a:rPr>
              <a:t>	This module converts recognized gestures into audible speech using a text-to-speech mechanism. The </a:t>
            </a:r>
            <a:r>
              <a:rPr lang="en-US" sz="2000" dirty="0" err="1">
                <a:latin typeface="Times New Roman" pitchFamily="18" charset="0"/>
                <a:cs typeface="Times New Roman" pitchFamily="18" charset="0"/>
              </a:rPr>
              <a:t>DFPlayer</a:t>
            </a:r>
            <a:r>
              <a:rPr lang="en-US" sz="2000" dirty="0">
                <a:latin typeface="Times New Roman" pitchFamily="18" charset="0"/>
                <a:cs typeface="Times New Roman" pitchFamily="18" charset="0"/>
              </a:rPr>
              <a:t> module and speaker produce real-time voice output for effective communication with hearing individuals.</a:t>
            </a:r>
          </a:p>
          <a:p>
            <a:r>
              <a:rPr lang="en-US" sz="2400" b="1" u="sng" dirty="0">
                <a:latin typeface="Times New Roman" pitchFamily="18" charset="0"/>
                <a:cs typeface="Times New Roman" pitchFamily="18" charset="0"/>
              </a:rPr>
              <a:t>Module 7: Real-Time Testing &amp; Applications</a:t>
            </a:r>
          </a:p>
          <a:p>
            <a:r>
              <a:rPr lang="en-US" sz="2000" dirty="0">
                <a:latin typeface="Times New Roman" pitchFamily="18" charset="0"/>
                <a:cs typeface="Times New Roman" pitchFamily="18" charset="0"/>
              </a:rPr>
              <a:t>	This module focuses on testing the system under real-time conditions to verify accuracy, speed, and reliability. It also demonstrates the practical usage of the glove in everyday communication, education, and healthcare environments.</a:t>
            </a:r>
          </a:p>
          <a:p>
            <a:r>
              <a:rPr lang="en-US" sz="2400" b="1" u="sng" dirty="0">
                <a:latin typeface="Times New Roman" pitchFamily="18" charset="0"/>
                <a:cs typeface="Times New Roman" pitchFamily="18" charset="0"/>
              </a:rPr>
              <a:t>Module 8: Mobile Application Integration</a:t>
            </a:r>
            <a:endParaRPr lang="en-US" sz="2000" b="1" u="sng" dirty="0">
              <a:latin typeface="Times New Roman" pitchFamily="18" charset="0"/>
              <a:cs typeface="Times New Roman" pitchFamily="18" charset="0"/>
            </a:endParaRPr>
          </a:p>
          <a:p>
            <a:r>
              <a:rPr lang="en-US" sz="2000" dirty="0">
                <a:latin typeface="Times New Roman" pitchFamily="18" charset="0"/>
                <a:cs typeface="Times New Roman" pitchFamily="18" charset="0"/>
              </a:rPr>
              <a:t>	This module enables wireless communication between the glove and a mobile application using Bluetooth or Wi-Fi. The app displays text, provides audio output, stores communication history, and supports additional features such as multilingual translation.</a:t>
            </a:r>
          </a:p>
        </p:txBody>
      </p:sp>
      <p:sp>
        <p:nvSpPr>
          <p:cNvPr id="3" name="object 9">
            <a:extLst>
              <a:ext uri="{FF2B5EF4-FFF2-40B4-BE49-F238E27FC236}">
                <a16:creationId xmlns:a16="http://schemas.microsoft.com/office/drawing/2014/main" id="{6B23EC00-E1E4-EDA0-A986-F848D49CD8DA}"/>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extLst>
      <p:ext uri="{BB962C8B-B14F-4D97-AF65-F5344CB8AC3E}">
        <p14:creationId xmlns:p14="http://schemas.microsoft.com/office/powerpoint/2010/main" val="2270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15</a:t>
            </a:fld>
            <a:endParaRPr spc="-25" dirty="0"/>
          </a:p>
        </p:txBody>
      </p:sp>
      <p:sp>
        <p:nvSpPr>
          <p:cNvPr id="2" name="object 2"/>
          <p:cNvSpPr txBox="1">
            <a:spLocks noGrp="1"/>
          </p:cNvSpPr>
          <p:nvPr>
            <p:ph type="title"/>
          </p:nvPr>
        </p:nvSpPr>
        <p:spPr>
          <a:xfrm>
            <a:off x="609600" y="274638"/>
            <a:ext cx="10972800" cy="839332"/>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lang="en-US" dirty="0">
                <a:latin typeface="Times New Roman" panose="02020603050405020304" pitchFamily="18" charset="0"/>
                <a:cs typeface="Times New Roman" panose="02020603050405020304" pitchFamily="18" charset="0"/>
              </a:rPr>
              <a:t>MODULE - I</a:t>
            </a:r>
            <a:br>
              <a:rPr lang="en-US" dirty="0"/>
            </a:br>
            <a:endParaRPr sz="500" dirty="0"/>
          </a:p>
        </p:txBody>
      </p:sp>
      <p:sp>
        <p:nvSpPr>
          <p:cNvPr id="3" name="TextBox 2">
            <a:extLst>
              <a:ext uri="{FF2B5EF4-FFF2-40B4-BE49-F238E27FC236}">
                <a16:creationId xmlns:a16="http://schemas.microsoft.com/office/drawing/2014/main" id="{44E73E78-7D7F-D796-6CA3-64D9DF07765B}"/>
              </a:ext>
            </a:extLst>
          </p:cNvPr>
          <p:cNvSpPr txBox="1"/>
          <p:nvPr/>
        </p:nvSpPr>
        <p:spPr>
          <a:xfrm>
            <a:off x="551662" y="1194782"/>
            <a:ext cx="10557103" cy="523220"/>
          </a:xfrm>
          <a:prstGeom prst="rect">
            <a:avLst/>
          </a:prstGeom>
          <a:noFill/>
        </p:spPr>
        <p:txBody>
          <a:bodyPr wrap="square" rtlCol="0">
            <a:spAutoFit/>
          </a:bodyPr>
          <a:lstStyle/>
          <a:p>
            <a:pPr algn="l" rtl="0"/>
            <a:r>
              <a:rPr lang="en-US" altLang="en-US" sz="2800" b="1" dirty="0">
                <a:solidFill>
                  <a:schemeClr val="tx1"/>
                </a:solidFill>
                <a:latin typeface="Times New Roman" panose="02020603050405020304" pitchFamily="18" charset="0"/>
                <a:cs typeface="Times New Roman" panose="02020603050405020304" pitchFamily="18" charset="0"/>
              </a:rPr>
              <a:t>Module 1 - Hardware Setup &amp; Integration</a:t>
            </a:r>
          </a:p>
        </p:txBody>
      </p:sp>
      <p:sp>
        <p:nvSpPr>
          <p:cNvPr id="11" name="TextBox 10">
            <a:extLst>
              <a:ext uri="{FF2B5EF4-FFF2-40B4-BE49-F238E27FC236}">
                <a16:creationId xmlns:a16="http://schemas.microsoft.com/office/drawing/2014/main" id="{44E73E78-7D7F-D796-6CA3-64D9DF07765B}"/>
              </a:ext>
            </a:extLst>
          </p:cNvPr>
          <p:cNvSpPr txBox="1"/>
          <p:nvPr/>
        </p:nvSpPr>
        <p:spPr>
          <a:xfrm>
            <a:off x="551662" y="1656447"/>
            <a:ext cx="11023601" cy="4693593"/>
          </a:xfrm>
          <a:prstGeom prst="rect">
            <a:avLst/>
          </a:prstGeom>
          <a:noFill/>
        </p:spPr>
        <p:txBody>
          <a:bodyPr wrap="square" rtlCol="0">
            <a:spAutoFit/>
          </a:bodyPr>
          <a:lstStyle/>
          <a:p>
            <a:pPr marL="285750" indent="-28575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Glove Sensors – Flex sensors on fingers + IMU (MPU6050) capture hand gestures and motion.</a:t>
            </a:r>
          </a:p>
          <a:p>
            <a:pPr marL="285750" indent="-285750" algn="just">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Microcontroller (</a:t>
            </a:r>
            <a:r>
              <a:rPr lang="en-IN" sz="2300" dirty="0" err="1">
                <a:latin typeface="Times New Roman" panose="02020603050405020304" pitchFamily="18" charset="0"/>
                <a:cs typeface="Times New Roman" panose="02020603050405020304" pitchFamily="18" charset="0"/>
              </a:rPr>
              <a:t>Arduino</a:t>
            </a:r>
            <a:r>
              <a:rPr lang="en-IN" sz="2300" dirty="0">
                <a:latin typeface="Times New Roman" panose="02020603050405020304" pitchFamily="18" charset="0"/>
                <a:cs typeface="Times New Roman" panose="02020603050405020304" pitchFamily="18" charset="0"/>
              </a:rPr>
              <a:t>) – Collects sensor data, processes gestures, and controls input/output devices.</a:t>
            </a:r>
          </a:p>
          <a:p>
            <a:pPr marL="285750" indent="-28575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LCD Display – Shows recognized gestures as text and also displays converted speech input.</a:t>
            </a:r>
          </a:p>
          <a:p>
            <a:pPr marL="285750" indent="-28575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Text-to-Speech Module (</a:t>
            </a:r>
            <a:r>
              <a:rPr lang="en-US" sz="2300" dirty="0" err="1">
                <a:latin typeface="Times New Roman" panose="02020603050405020304" pitchFamily="18" charset="0"/>
                <a:cs typeface="Times New Roman" panose="02020603050405020304" pitchFamily="18" charset="0"/>
              </a:rPr>
              <a:t>DFPlayer</a:t>
            </a:r>
            <a:r>
              <a:rPr lang="en-US" sz="2300" dirty="0">
                <a:latin typeface="Times New Roman" panose="02020603050405020304" pitchFamily="18" charset="0"/>
                <a:cs typeface="Times New Roman" panose="02020603050405020304" pitchFamily="18" charset="0"/>
              </a:rPr>
              <a:t>) – Converts recognized gestures into pre-recorded voice output.</a:t>
            </a:r>
          </a:p>
          <a:p>
            <a:pPr marL="285750" indent="-28575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Microphone Module – Captures voice input for speech-to-text conversion.</a:t>
            </a:r>
          </a:p>
          <a:p>
            <a:pPr marL="285750" indent="-28575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Speaker – Outputs spoken words for hearing users.</a:t>
            </a:r>
          </a:p>
          <a:p>
            <a:pPr marL="285750" indent="-28575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Power Supply (Li-ion Battery + Regulator) – Provides stable power to all components.</a:t>
            </a:r>
          </a:p>
          <a:p>
            <a:pPr marL="285750" indent="-28575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System Integration – Microcontroller acts as the hub, linking sensors, display, </a:t>
            </a:r>
            <a:r>
              <a:rPr lang="en-US" sz="2300" dirty="0" err="1">
                <a:latin typeface="Times New Roman" panose="02020603050405020304" pitchFamily="18" charset="0"/>
                <a:cs typeface="Times New Roman" panose="02020603050405020304" pitchFamily="18" charset="0"/>
              </a:rPr>
              <a:t>mic</a:t>
            </a:r>
            <a:r>
              <a:rPr lang="en-US" sz="2300" dirty="0">
                <a:latin typeface="Times New Roman" panose="02020603050405020304" pitchFamily="18" charset="0"/>
                <a:cs typeface="Times New Roman" panose="02020603050405020304" pitchFamily="18" charset="0"/>
              </a:rPr>
              <a:t>, TTS, and speaker for seamless bi-directional communication</a:t>
            </a:r>
            <a:r>
              <a:rPr lang="en-US" sz="2300" dirty="0"/>
              <a:t>.</a:t>
            </a:r>
          </a:p>
        </p:txBody>
      </p:sp>
      <p:sp>
        <p:nvSpPr>
          <p:cNvPr id="7" name="object 9">
            <a:extLst>
              <a:ext uri="{FF2B5EF4-FFF2-40B4-BE49-F238E27FC236}">
                <a16:creationId xmlns:a16="http://schemas.microsoft.com/office/drawing/2014/main" id="{D962F7E2-849B-E9E6-E44C-688D6B1FF2E8}"/>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extLst>
      <p:ext uri="{BB962C8B-B14F-4D97-AF65-F5344CB8AC3E}">
        <p14:creationId xmlns:p14="http://schemas.microsoft.com/office/powerpoint/2010/main" val="1710916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16</a:t>
            </a:fld>
            <a:endParaRPr spc="-25" dirty="0"/>
          </a:p>
        </p:txBody>
      </p:sp>
      <p:sp>
        <p:nvSpPr>
          <p:cNvPr id="2" name="object 2"/>
          <p:cNvSpPr txBox="1">
            <a:spLocks noGrp="1"/>
          </p:cNvSpPr>
          <p:nvPr>
            <p:ph type="title"/>
          </p:nvPr>
        </p:nvSpPr>
        <p:spPr>
          <a:xfrm>
            <a:off x="609600" y="274638"/>
            <a:ext cx="10972800" cy="839332"/>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lang="en-US" dirty="0">
                <a:latin typeface="Times New Roman" panose="02020603050405020304" pitchFamily="18" charset="0"/>
                <a:cs typeface="Times New Roman" panose="02020603050405020304" pitchFamily="18" charset="0"/>
              </a:rPr>
              <a:t>MODULE - II</a:t>
            </a:r>
            <a:br>
              <a:rPr lang="en-US" dirty="0">
                <a:latin typeface="Times New Roman" panose="02020603050405020304" pitchFamily="18" charset="0"/>
                <a:cs typeface="Times New Roman" panose="02020603050405020304" pitchFamily="18" charset="0"/>
              </a:rPr>
            </a:br>
            <a:endParaRPr sz="500" dirty="0"/>
          </a:p>
        </p:txBody>
      </p:sp>
      <p:sp>
        <p:nvSpPr>
          <p:cNvPr id="3" name="TextBox 2">
            <a:extLst>
              <a:ext uri="{FF2B5EF4-FFF2-40B4-BE49-F238E27FC236}">
                <a16:creationId xmlns:a16="http://schemas.microsoft.com/office/drawing/2014/main" id="{44E73E78-7D7F-D796-6CA3-64D9DF07765B}"/>
              </a:ext>
            </a:extLst>
          </p:cNvPr>
          <p:cNvSpPr txBox="1"/>
          <p:nvPr/>
        </p:nvSpPr>
        <p:spPr>
          <a:xfrm>
            <a:off x="589280" y="1447800"/>
            <a:ext cx="10557103" cy="661207"/>
          </a:xfrm>
          <a:prstGeom prst="rect">
            <a:avLst/>
          </a:prstGeom>
          <a:noFill/>
        </p:spPr>
        <p:txBody>
          <a:bodyPr wrap="square" rtlCol="0">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 2 – Sensor </a:t>
            </a:r>
            <a:r>
              <a:rPr kumimoji="0" lang="en-US" altLang="en-US" sz="2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Caliberation</a:t>
            </a: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Rectangle 4"/>
          <p:cNvSpPr>
            <a:spLocks noChangeArrowheads="1"/>
          </p:cNvSpPr>
          <p:nvPr/>
        </p:nvSpPr>
        <p:spPr bwMode="auto">
          <a:xfrm>
            <a:off x="560343" y="2590800"/>
            <a:ext cx="10715583" cy="224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Flex Sensors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Set baseline (straight) and bent values, map to % bend.</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IMU</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Zero reference on flat surface, filter noise, normalize angles.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Microphone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Adjust sensitivity, filter background noise.</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Gestures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Collect samples, set thresholds/train model, recalibrate if needed.</a:t>
            </a:r>
          </a:p>
        </p:txBody>
      </p:sp>
      <p:sp>
        <p:nvSpPr>
          <p:cNvPr id="7" name="object 9">
            <a:extLst>
              <a:ext uri="{FF2B5EF4-FFF2-40B4-BE49-F238E27FC236}">
                <a16:creationId xmlns:a16="http://schemas.microsoft.com/office/drawing/2014/main" id="{0A58CA02-42E4-752D-2AC6-C0F62C928B21}"/>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extLst>
      <p:ext uri="{BB962C8B-B14F-4D97-AF65-F5344CB8AC3E}">
        <p14:creationId xmlns:p14="http://schemas.microsoft.com/office/powerpoint/2010/main" val="823113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17</a:t>
            </a:fld>
            <a:endParaRPr spc="-25" dirty="0"/>
          </a:p>
        </p:txBody>
      </p:sp>
      <p:sp>
        <p:nvSpPr>
          <p:cNvPr id="2" name="object 2"/>
          <p:cNvSpPr txBox="1">
            <a:spLocks noGrp="1"/>
          </p:cNvSpPr>
          <p:nvPr>
            <p:ph type="title"/>
          </p:nvPr>
        </p:nvSpPr>
        <p:spPr>
          <a:xfrm>
            <a:off x="609600" y="274638"/>
            <a:ext cx="10972800" cy="839332"/>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lang="en-US" dirty="0">
                <a:latin typeface="Times New Roman" panose="02020603050405020304" pitchFamily="18" charset="0"/>
                <a:cs typeface="Times New Roman" panose="02020603050405020304" pitchFamily="18" charset="0"/>
              </a:rPr>
              <a:t>MODULE - III</a:t>
            </a:r>
            <a:br>
              <a:rPr lang="en-US" dirty="0"/>
            </a:br>
            <a:endParaRPr sz="500" dirty="0"/>
          </a:p>
        </p:txBody>
      </p:sp>
      <p:sp>
        <p:nvSpPr>
          <p:cNvPr id="3" name="TextBox 2">
            <a:extLst>
              <a:ext uri="{FF2B5EF4-FFF2-40B4-BE49-F238E27FC236}">
                <a16:creationId xmlns:a16="http://schemas.microsoft.com/office/drawing/2014/main" id="{44E73E78-7D7F-D796-6CA3-64D9DF07765B}"/>
              </a:ext>
            </a:extLst>
          </p:cNvPr>
          <p:cNvSpPr txBox="1"/>
          <p:nvPr/>
        </p:nvSpPr>
        <p:spPr>
          <a:xfrm>
            <a:off x="609600" y="1586233"/>
            <a:ext cx="10557103" cy="523220"/>
          </a:xfrm>
          <a:prstGeom prst="rect">
            <a:avLst/>
          </a:prstGeom>
          <a:noFill/>
        </p:spPr>
        <p:txBody>
          <a:bodyPr wrap="square" rtlCol="0">
            <a:spAutoFit/>
          </a:bodyPr>
          <a:lstStyle/>
          <a:p>
            <a:pPr algn="l" rtl="0"/>
            <a:r>
              <a:rPr lang="en-US" sz="2800" b="1" dirty="0">
                <a:latin typeface="Times New Roman" panose="02020603050405020304" pitchFamily="18" charset="0"/>
                <a:cs typeface="Times New Roman" panose="02020603050405020304" pitchFamily="18" charset="0"/>
              </a:rPr>
              <a:t>Module 3 - </a:t>
            </a:r>
            <a:r>
              <a:rPr lang="en-US" altLang="en-US" sz="2800" b="1" dirty="0">
                <a:solidFill>
                  <a:schemeClr val="tx1"/>
                </a:solidFill>
                <a:latin typeface="Times New Roman" panose="02020603050405020304" pitchFamily="18" charset="0"/>
                <a:cs typeface="Times New Roman" panose="02020603050405020304" pitchFamily="18" charset="0"/>
              </a:rPr>
              <a:t>Signal Processing</a:t>
            </a:r>
          </a:p>
        </p:txBody>
      </p:sp>
      <p:sp>
        <p:nvSpPr>
          <p:cNvPr id="7" name="Rectangle 1"/>
          <p:cNvSpPr>
            <a:spLocks noChangeArrowheads="1"/>
          </p:cNvSpPr>
          <p:nvPr/>
        </p:nvSpPr>
        <p:spPr bwMode="auto">
          <a:xfrm>
            <a:off x="609600" y="2522205"/>
            <a:ext cx="10363200" cy="327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lnSpc>
                <a:spcPct val="150000"/>
              </a:lnSpc>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Data Acquisition – Collect raw signals from flex sensors and IMU.</a:t>
            </a:r>
          </a:p>
          <a:p>
            <a:pPr marL="285750" indent="-285750" algn="just">
              <a:lnSpc>
                <a:spcPct val="150000"/>
              </a:lnSpc>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Preprocessing – Filter noise, normalize sensor values, and smooth readings.</a:t>
            </a:r>
          </a:p>
          <a:p>
            <a:pPr marL="285750" indent="-285750" algn="just">
              <a:lnSpc>
                <a:spcPct val="150000"/>
              </a:lnSpc>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Feature Extraction – Identify key patterns (finger bends, hand orientation, speech features).</a:t>
            </a:r>
          </a:p>
          <a:p>
            <a:pPr marL="285750" indent="-285750" algn="just">
              <a:lnSpc>
                <a:spcPct val="150000"/>
              </a:lnSpc>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Classification/Recognition – Match processed data to predefined gestures or words.</a:t>
            </a:r>
          </a:p>
          <a:p>
            <a:pPr marL="285750" indent="-285750" algn="just">
              <a:lnSpc>
                <a:spcPct val="150000"/>
              </a:lnSpc>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Output Mapping – Convert recognized signals into text on LCD.</a:t>
            </a:r>
            <a:endParaRPr lang="en-IN" sz="2300" dirty="0">
              <a:latin typeface="Times New Roman" panose="02020603050405020304" pitchFamily="18" charset="0"/>
              <a:cs typeface="Times New Roman" panose="02020603050405020304" pitchFamily="18" charset="0"/>
            </a:endParaRPr>
          </a:p>
        </p:txBody>
      </p:sp>
      <p:sp>
        <p:nvSpPr>
          <p:cNvPr id="8" name="object 9">
            <a:extLst>
              <a:ext uri="{FF2B5EF4-FFF2-40B4-BE49-F238E27FC236}">
                <a16:creationId xmlns:a16="http://schemas.microsoft.com/office/drawing/2014/main" id="{C3BF3567-AC40-F18E-0F3B-AEE346F8D00C}"/>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extLst>
      <p:ext uri="{BB962C8B-B14F-4D97-AF65-F5344CB8AC3E}">
        <p14:creationId xmlns:p14="http://schemas.microsoft.com/office/powerpoint/2010/main" val="1170552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18</a:t>
            </a:fld>
            <a:endParaRPr spc="-25" dirty="0"/>
          </a:p>
        </p:txBody>
      </p:sp>
      <p:sp>
        <p:nvSpPr>
          <p:cNvPr id="2" name="object 2"/>
          <p:cNvSpPr txBox="1">
            <a:spLocks noGrp="1"/>
          </p:cNvSpPr>
          <p:nvPr>
            <p:ph type="title"/>
          </p:nvPr>
        </p:nvSpPr>
        <p:spPr>
          <a:xfrm>
            <a:off x="609600" y="274638"/>
            <a:ext cx="10972800" cy="839332"/>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lang="en-US" dirty="0">
                <a:latin typeface="Times New Roman" panose="02020603050405020304" pitchFamily="18" charset="0"/>
                <a:cs typeface="Times New Roman" panose="02020603050405020304" pitchFamily="18" charset="0"/>
              </a:rPr>
              <a:t>MODULES - IV</a:t>
            </a:r>
            <a:br>
              <a:rPr lang="en-US" dirty="0"/>
            </a:br>
            <a:endParaRPr sz="500" dirty="0"/>
          </a:p>
        </p:txBody>
      </p:sp>
      <p:sp>
        <p:nvSpPr>
          <p:cNvPr id="3" name="TextBox 2">
            <a:extLst>
              <a:ext uri="{FF2B5EF4-FFF2-40B4-BE49-F238E27FC236}">
                <a16:creationId xmlns:a16="http://schemas.microsoft.com/office/drawing/2014/main" id="{44E73E78-7D7F-D796-6CA3-64D9DF07765B}"/>
              </a:ext>
            </a:extLst>
          </p:cNvPr>
          <p:cNvSpPr txBox="1"/>
          <p:nvPr/>
        </p:nvSpPr>
        <p:spPr>
          <a:xfrm>
            <a:off x="549952" y="1586232"/>
            <a:ext cx="10557103" cy="523220"/>
          </a:xfrm>
          <a:prstGeom prst="rect">
            <a:avLst/>
          </a:prstGeom>
          <a:noFill/>
        </p:spPr>
        <p:txBody>
          <a:bodyPr wrap="square" rtlCol="0">
            <a:spAutoFit/>
          </a:bodyPr>
          <a:lstStyle/>
          <a:p>
            <a:pPr algn="l" rtl="0"/>
            <a:r>
              <a:rPr lang="en-US" altLang="en-US" sz="2800" b="1" dirty="0">
                <a:solidFill>
                  <a:schemeClr val="tx1"/>
                </a:solidFill>
                <a:latin typeface="Times New Roman" panose="02020603050405020304" pitchFamily="18" charset="0"/>
                <a:cs typeface="Times New Roman" panose="02020603050405020304" pitchFamily="18" charset="0"/>
              </a:rPr>
              <a:t>Module 4 - Gesture Recognition</a:t>
            </a:r>
          </a:p>
        </p:txBody>
      </p:sp>
      <p:sp>
        <p:nvSpPr>
          <p:cNvPr id="8" name="Rectangle 1"/>
          <p:cNvSpPr>
            <a:spLocks noChangeArrowheads="1"/>
          </p:cNvSpPr>
          <p:nvPr/>
        </p:nvSpPr>
        <p:spPr bwMode="auto">
          <a:xfrm>
            <a:off x="560562" y="2286000"/>
            <a:ext cx="10811061"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Input Capture – Flex sensors detect finger bends, IMU tracks hand orientation.</a:t>
            </a:r>
          </a:p>
          <a:p>
            <a:pPr marL="285750" indent="-285750" algn="just">
              <a:lnSpc>
                <a:spcPct val="150000"/>
              </a:lnSpc>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Preprocessing</a:t>
            </a:r>
            <a:r>
              <a:rPr lang="en-IN" sz="2400" dirty="0">
                <a:latin typeface="Times New Roman" panose="02020603050405020304" pitchFamily="18" charset="0"/>
                <a:cs typeface="Times New Roman" panose="02020603050405020304" pitchFamily="18" charset="0"/>
              </a:rPr>
              <a:t> – Normalize sensor data and remove noise.</a:t>
            </a:r>
          </a:p>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Feature Extraction – Identify bending patterns and motion parameters.</a:t>
            </a:r>
          </a:p>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Classification – Compare features with stored thresholds or ML model.</a:t>
            </a:r>
          </a:p>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Output Generation – Recognized gesture is displayed as text.</a:t>
            </a:r>
            <a:endParaRPr lang="en-IN" sz="2400" dirty="0">
              <a:latin typeface="Times New Roman" panose="02020603050405020304" pitchFamily="18" charset="0"/>
              <a:cs typeface="Times New Roman" panose="02020603050405020304" pitchFamily="18" charset="0"/>
            </a:endParaRPr>
          </a:p>
        </p:txBody>
      </p:sp>
      <p:sp>
        <p:nvSpPr>
          <p:cNvPr id="7" name="object 9">
            <a:extLst>
              <a:ext uri="{FF2B5EF4-FFF2-40B4-BE49-F238E27FC236}">
                <a16:creationId xmlns:a16="http://schemas.microsoft.com/office/drawing/2014/main" id="{11E57C67-769F-DA37-5A7F-A6554EFF3A08}"/>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extLst>
      <p:ext uri="{BB962C8B-B14F-4D97-AF65-F5344CB8AC3E}">
        <p14:creationId xmlns:p14="http://schemas.microsoft.com/office/powerpoint/2010/main" val="322900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19</a:t>
            </a:fld>
            <a:endParaRPr spc="-25" dirty="0"/>
          </a:p>
        </p:txBody>
      </p:sp>
      <p:sp>
        <p:nvSpPr>
          <p:cNvPr id="2" name="object 2"/>
          <p:cNvSpPr txBox="1">
            <a:spLocks noGrp="1"/>
          </p:cNvSpPr>
          <p:nvPr>
            <p:ph type="title"/>
          </p:nvPr>
        </p:nvSpPr>
        <p:spPr>
          <a:xfrm>
            <a:off x="609600" y="274638"/>
            <a:ext cx="10972800" cy="839332"/>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lang="en-US" dirty="0">
                <a:latin typeface="Times New Roman" panose="02020603050405020304" pitchFamily="18" charset="0"/>
                <a:cs typeface="Times New Roman" panose="02020603050405020304" pitchFamily="18" charset="0"/>
              </a:rPr>
              <a:t>MODULES - V</a:t>
            </a:r>
            <a:br>
              <a:rPr lang="en-US" dirty="0"/>
            </a:br>
            <a:endParaRPr sz="500" dirty="0"/>
          </a:p>
        </p:txBody>
      </p:sp>
      <p:sp>
        <p:nvSpPr>
          <p:cNvPr id="3" name="TextBox 2">
            <a:extLst>
              <a:ext uri="{FF2B5EF4-FFF2-40B4-BE49-F238E27FC236}">
                <a16:creationId xmlns:a16="http://schemas.microsoft.com/office/drawing/2014/main" id="{44E73E78-7D7F-D796-6CA3-64D9DF07765B}"/>
              </a:ext>
            </a:extLst>
          </p:cNvPr>
          <p:cNvSpPr txBox="1"/>
          <p:nvPr/>
        </p:nvSpPr>
        <p:spPr>
          <a:xfrm>
            <a:off x="549952" y="1586232"/>
            <a:ext cx="10557103" cy="523220"/>
          </a:xfrm>
          <a:prstGeom prst="rect">
            <a:avLst/>
          </a:prstGeom>
          <a:noFill/>
        </p:spPr>
        <p:txBody>
          <a:bodyPr wrap="square" rtlCol="0">
            <a:spAutoFit/>
          </a:bodyPr>
          <a:lstStyle/>
          <a:p>
            <a:pPr algn="l" rtl="0"/>
            <a:r>
              <a:rPr lang="en-US" sz="2800" b="1" dirty="0">
                <a:latin typeface="Times New Roman" panose="02020603050405020304" pitchFamily="18" charset="0"/>
                <a:cs typeface="Times New Roman" panose="02020603050405020304" pitchFamily="18" charset="0"/>
              </a:rPr>
              <a:t>Module 5 - </a:t>
            </a:r>
            <a:r>
              <a:rPr lang="en-US" altLang="en-US" sz="2800" b="1" dirty="0">
                <a:solidFill>
                  <a:schemeClr val="tx1"/>
                </a:solidFill>
                <a:latin typeface="Times New Roman" panose="02020603050405020304" pitchFamily="18" charset="0"/>
                <a:cs typeface="Times New Roman" panose="02020603050405020304" pitchFamily="18" charset="0"/>
              </a:rPr>
              <a:t>Output to LCD Display</a:t>
            </a:r>
          </a:p>
        </p:txBody>
      </p:sp>
      <p:sp>
        <p:nvSpPr>
          <p:cNvPr id="8" name="Rectangle 1"/>
          <p:cNvSpPr>
            <a:spLocks noChangeArrowheads="1"/>
          </p:cNvSpPr>
          <p:nvPr/>
        </p:nvSpPr>
        <p:spPr bwMode="auto">
          <a:xfrm>
            <a:off x="549953" y="2286000"/>
            <a:ext cx="600324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Gesture Recognition Result – Detected sign is converted into text.</a:t>
            </a:r>
          </a:p>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Display Module – LCD (I2C) shows real-time text output.</a:t>
            </a:r>
          </a:p>
        </p:txBody>
      </p:sp>
      <p:sp>
        <p:nvSpPr>
          <p:cNvPr id="7" name="object 9">
            <a:extLst>
              <a:ext uri="{FF2B5EF4-FFF2-40B4-BE49-F238E27FC236}">
                <a16:creationId xmlns:a16="http://schemas.microsoft.com/office/drawing/2014/main" id="{11E57C67-769F-DA37-5A7F-A6554EFF3A08}"/>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extLst>
      <p:ext uri="{BB962C8B-B14F-4D97-AF65-F5344CB8AC3E}">
        <p14:creationId xmlns:p14="http://schemas.microsoft.com/office/powerpoint/2010/main" val="369003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20</a:t>
            </a:fld>
            <a:endParaRPr spc="-25" dirty="0"/>
          </a:p>
        </p:txBody>
      </p:sp>
      <p:sp>
        <p:nvSpPr>
          <p:cNvPr id="2" name="object 2"/>
          <p:cNvSpPr txBox="1">
            <a:spLocks noGrp="1"/>
          </p:cNvSpPr>
          <p:nvPr>
            <p:ph type="title"/>
          </p:nvPr>
        </p:nvSpPr>
        <p:spPr>
          <a:xfrm>
            <a:off x="609600" y="274638"/>
            <a:ext cx="10972800" cy="839332"/>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lang="en-US" dirty="0">
                <a:latin typeface="Times New Roman" panose="02020603050405020304" pitchFamily="18" charset="0"/>
                <a:cs typeface="Times New Roman" panose="02020603050405020304" pitchFamily="18" charset="0"/>
              </a:rPr>
              <a:t>MODULES - VI</a:t>
            </a:r>
            <a:br>
              <a:rPr lang="en-US" dirty="0"/>
            </a:br>
            <a:endParaRPr sz="500" dirty="0"/>
          </a:p>
        </p:txBody>
      </p:sp>
      <p:sp>
        <p:nvSpPr>
          <p:cNvPr id="3" name="TextBox 2">
            <a:extLst>
              <a:ext uri="{FF2B5EF4-FFF2-40B4-BE49-F238E27FC236}">
                <a16:creationId xmlns:a16="http://schemas.microsoft.com/office/drawing/2014/main" id="{44E73E78-7D7F-D796-6CA3-64D9DF07765B}"/>
              </a:ext>
            </a:extLst>
          </p:cNvPr>
          <p:cNvSpPr txBox="1"/>
          <p:nvPr/>
        </p:nvSpPr>
        <p:spPr>
          <a:xfrm>
            <a:off x="549952" y="1586232"/>
            <a:ext cx="10557103" cy="523220"/>
          </a:xfrm>
          <a:prstGeom prst="rect">
            <a:avLst/>
          </a:prstGeom>
          <a:noFill/>
        </p:spPr>
        <p:txBody>
          <a:bodyPr wrap="square" rtlCol="0">
            <a:spAutoFit/>
          </a:bodyPr>
          <a:lstStyle/>
          <a:p>
            <a:pPr algn="l" rtl="0"/>
            <a:r>
              <a:rPr lang="en-US" sz="2800" b="1" dirty="0">
                <a:latin typeface="Times New Roman" pitchFamily="18" charset="0"/>
                <a:cs typeface="Times New Roman" pitchFamily="18" charset="0"/>
              </a:rPr>
              <a:t>Module 6: Audio Output (Speech Conversion)</a:t>
            </a:r>
            <a:endParaRPr lang="en-US" altLang="en-US" sz="2800" b="1" dirty="0">
              <a:solidFill>
                <a:schemeClr val="tx1"/>
              </a:solidFill>
              <a:latin typeface="Times New Roman" panose="02020603050405020304" pitchFamily="18" charset="0"/>
              <a:cs typeface="Times New Roman" panose="02020603050405020304" pitchFamily="18" charset="0"/>
            </a:endParaRPr>
          </a:p>
        </p:txBody>
      </p:sp>
      <p:sp>
        <p:nvSpPr>
          <p:cNvPr id="8" name="Rectangle 1"/>
          <p:cNvSpPr>
            <a:spLocks noChangeArrowheads="1"/>
          </p:cNvSpPr>
          <p:nvPr/>
        </p:nvSpPr>
        <p:spPr bwMode="auto">
          <a:xfrm>
            <a:off x="567315" y="2362200"/>
            <a:ext cx="836544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itchFamily="34" charset="0"/>
              <a:buChar char="•"/>
            </a:pPr>
            <a:r>
              <a:rPr lang="en-US" sz="2400" dirty="0">
                <a:latin typeface="Times New Roman" pitchFamily="18" charset="0"/>
                <a:cs typeface="Times New Roman" pitchFamily="18" charset="0"/>
              </a:rPr>
              <a:t>Converts recognized gestures into audible speech.</a:t>
            </a:r>
          </a:p>
          <a:p>
            <a:pPr marL="342900" indent="-342900">
              <a:buFont typeface="Arial" pitchFamily="34" charset="0"/>
              <a:buChar char="•"/>
            </a:pPr>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Uses Text-to-Speech (TTS) technique.</a:t>
            </a:r>
          </a:p>
          <a:p>
            <a:pPr marL="342900" indent="-342900">
              <a:buFont typeface="Arial" pitchFamily="34" charset="0"/>
              <a:buChar char="•"/>
            </a:pPr>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err="1">
                <a:latin typeface="Times New Roman" pitchFamily="18" charset="0"/>
                <a:cs typeface="Times New Roman" pitchFamily="18" charset="0"/>
              </a:rPr>
              <a:t>DFPlayer</a:t>
            </a:r>
            <a:r>
              <a:rPr lang="en-US" sz="2400" dirty="0">
                <a:latin typeface="Times New Roman" pitchFamily="18" charset="0"/>
                <a:cs typeface="Times New Roman" pitchFamily="18" charset="0"/>
              </a:rPr>
              <a:t> Mini used for voice playback.</a:t>
            </a:r>
          </a:p>
          <a:p>
            <a:pPr marL="342900" indent="-342900">
              <a:buFont typeface="Arial" pitchFamily="34" charset="0"/>
              <a:buChar char="•"/>
            </a:pPr>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Speaker outputs real-time audio.</a:t>
            </a:r>
          </a:p>
          <a:p>
            <a:pPr marL="342900" indent="-342900">
              <a:buFont typeface="Arial" pitchFamily="34" charset="0"/>
              <a:buChar char="•"/>
            </a:pPr>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Enables communication with hearing users.</a:t>
            </a:r>
          </a:p>
        </p:txBody>
      </p:sp>
      <p:sp>
        <p:nvSpPr>
          <p:cNvPr id="7" name="object 9">
            <a:extLst>
              <a:ext uri="{FF2B5EF4-FFF2-40B4-BE49-F238E27FC236}">
                <a16:creationId xmlns:a16="http://schemas.microsoft.com/office/drawing/2014/main" id="{11E57C67-769F-DA37-5A7F-A6554EFF3A08}"/>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extLst>
      <p:ext uri="{BB962C8B-B14F-4D97-AF65-F5344CB8AC3E}">
        <p14:creationId xmlns:p14="http://schemas.microsoft.com/office/powerpoint/2010/main" val="332106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21</a:t>
            </a:fld>
            <a:endParaRPr spc="-25" dirty="0"/>
          </a:p>
        </p:txBody>
      </p:sp>
      <p:sp>
        <p:nvSpPr>
          <p:cNvPr id="2" name="object 2"/>
          <p:cNvSpPr txBox="1">
            <a:spLocks noGrp="1"/>
          </p:cNvSpPr>
          <p:nvPr>
            <p:ph type="title"/>
          </p:nvPr>
        </p:nvSpPr>
        <p:spPr>
          <a:xfrm>
            <a:off x="609600" y="274638"/>
            <a:ext cx="10972800" cy="839332"/>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lang="en-US" dirty="0">
                <a:latin typeface="Times New Roman" panose="02020603050405020304" pitchFamily="18" charset="0"/>
                <a:cs typeface="Times New Roman" panose="02020603050405020304" pitchFamily="18" charset="0"/>
              </a:rPr>
              <a:t>MODULES - VII</a:t>
            </a:r>
            <a:br>
              <a:rPr lang="en-US" dirty="0"/>
            </a:br>
            <a:endParaRPr sz="500" dirty="0"/>
          </a:p>
        </p:txBody>
      </p:sp>
      <p:sp>
        <p:nvSpPr>
          <p:cNvPr id="3" name="TextBox 2">
            <a:extLst>
              <a:ext uri="{FF2B5EF4-FFF2-40B4-BE49-F238E27FC236}">
                <a16:creationId xmlns:a16="http://schemas.microsoft.com/office/drawing/2014/main" id="{44E73E78-7D7F-D796-6CA3-64D9DF07765B}"/>
              </a:ext>
            </a:extLst>
          </p:cNvPr>
          <p:cNvSpPr txBox="1"/>
          <p:nvPr/>
        </p:nvSpPr>
        <p:spPr>
          <a:xfrm>
            <a:off x="549952" y="1586232"/>
            <a:ext cx="10557103" cy="523220"/>
          </a:xfrm>
          <a:prstGeom prst="rect">
            <a:avLst/>
          </a:prstGeom>
          <a:noFill/>
        </p:spPr>
        <p:txBody>
          <a:bodyPr wrap="square" rtlCol="0">
            <a:spAutoFit/>
          </a:bodyPr>
          <a:lstStyle/>
          <a:p>
            <a:pPr algn="l" rtl="0"/>
            <a:r>
              <a:rPr lang="en-US" sz="2800" b="1" dirty="0">
                <a:latin typeface="Times New Roman" pitchFamily="18" charset="0"/>
                <a:cs typeface="Times New Roman" pitchFamily="18" charset="0"/>
              </a:rPr>
              <a:t>Module 7: Real-Time Testing &amp; Applications</a:t>
            </a:r>
            <a:endParaRPr lang="en-US" altLang="en-US" sz="2800" b="1" dirty="0">
              <a:solidFill>
                <a:schemeClr val="tx1"/>
              </a:solidFill>
              <a:latin typeface="Times New Roman" panose="02020603050405020304" pitchFamily="18" charset="0"/>
              <a:cs typeface="Times New Roman" panose="02020603050405020304" pitchFamily="18" charset="0"/>
            </a:endParaRPr>
          </a:p>
        </p:txBody>
      </p:sp>
      <p:sp>
        <p:nvSpPr>
          <p:cNvPr id="8" name="Rectangle 1"/>
          <p:cNvSpPr>
            <a:spLocks noChangeArrowheads="1"/>
          </p:cNvSpPr>
          <p:nvPr/>
        </p:nvSpPr>
        <p:spPr bwMode="auto">
          <a:xfrm>
            <a:off x="549953" y="2286000"/>
            <a:ext cx="882264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itchFamily="34" charset="0"/>
              <a:buChar char="•"/>
            </a:pPr>
            <a:r>
              <a:rPr lang="en-US" sz="2400" dirty="0">
                <a:latin typeface="Times New Roman" pitchFamily="18" charset="0"/>
                <a:cs typeface="Times New Roman" pitchFamily="18" charset="0"/>
              </a:rPr>
              <a:t>Tested under real-time usage conditions.</a:t>
            </a:r>
          </a:p>
          <a:p>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Validates accuracy and response time.</a:t>
            </a:r>
          </a:p>
          <a:p>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Ensures stable text and speech output.</a:t>
            </a:r>
          </a:p>
          <a:p>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Tested with different gestures and speeds.</a:t>
            </a:r>
          </a:p>
          <a:p>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Applicable in daily communication, education, and healthcare.</a:t>
            </a:r>
          </a:p>
        </p:txBody>
      </p:sp>
      <p:sp>
        <p:nvSpPr>
          <p:cNvPr id="7" name="object 9">
            <a:extLst>
              <a:ext uri="{FF2B5EF4-FFF2-40B4-BE49-F238E27FC236}">
                <a16:creationId xmlns:a16="http://schemas.microsoft.com/office/drawing/2014/main" id="{11E57C67-769F-DA37-5A7F-A6554EFF3A08}"/>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extLst>
      <p:ext uri="{BB962C8B-B14F-4D97-AF65-F5344CB8AC3E}">
        <p14:creationId xmlns:p14="http://schemas.microsoft.com/office/powerpoint/2010/main" val="2513144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F9407B05-E7E2-A4B2-1D04-3CE356BA6B8F}"/>
              </a:ext>
            </a:extLst>
          </p:cNvPr>
          <p:cNvSpPr txBox="1">
            <a:spLocks noGrp="1"/>
          </p:cNvSpPr>
          <p:nvPr>
            <p:ph type="dt" sz="half" idx="6"/>
          </p:nvPr>
        </p:nvSpPr>
        <p:spPr>
          <a:xfrm>
            <a:off x="5062897" y="6375336"/>
            <a:ext cx="2063750" cy="360679"/>
          </a:xfrm>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5" name="object 6">
            <a:extLst>
              <a:ext uri="{FF2B5EF4-FFF2-40B4-BE49-F238E27FC236}">
                <a16:creationId xmlns:a16="http://schemas.microsoft.com/office/drawing/2014/main" id="{66077EB4-06F4-E158-D7D7-06DD6252E89C}"/>
              </a:ext>
            </a:extLst>
          </p:cNvPr>
          <p:cNvSpPr txBox="1">
            <a:spLocks noGrp="1"/>
          </p:cNvSpPr>
          <p:nvPr>
            <p:ph type="sldNum" sz="quarter" idx="7"/>
          </p:nvPr>
        </p:nvSpPr>
        <p:spPr>
          <a:xfrm>
            <a:off x="11381333" y="6466776"/>
            <a:ext cx="166370" cy="177800"/>
          </a:xfrm>
          <a:prstGeom prst="rect">
            <a:avLst/>
          </a:prstGeom>
        </p:spPr>
        <p:txBody>
          <a:bodyPr vert="horz" wrap="square" lIns="0" tIns="0" rIns="0" bIns="0" rtlCol="0">
            <a:spAutoFit/>
          </a:bodyPr>
          <a:lstStyle/>
          <a:p>
            <a:pPr marL="12700">
              <a:lnSpc>
                <a:spcPts val="1240"/>
              </a:lnSpc>
            </a:pPr>
            <a:fld id="{81D60167-4931-47E6-BA6A-407CBD079E47}" type="slidenum">
              <a:rPr spc="-25" dirty="0"/>
              <a:t>22</a:t>
            </a:fld>
            <a:endParaRPr spc="-25" dirty="0"/>
          </a:p>
        </p:txBody>
      </p:sp>
      <p:sp>
        <p:nvSpPr>
          <p:cNvPr id="6" name="object 2">
            <a:extLst>
              <a:ext uri="{FF2B5EF4-FFF2-40B4-BE49-F238E27FC236}">
                <a16:creationId xmlns:a16="http://schemas.microsoft.com/office/drawing/2014/main" id="{D15F1DAA-A51D-30D3-32F5-11AC09E3EF19}"/>
              </a:ext>
            </a:extLst>
          </p:cNvPr>
          <p:cNvSpPr txBox="1">
            <a:spLocks/>
          </p:cNvSpPr>
          <p:nvPr/>
        </p:nvSpPr>
        <p:spPr>
          <a:xfrm>
            <a:off x="609600" y="274638"/>
            <a:ext cx="10972800" cy="839332"/>
          </a:xfrm>
          <a:prstGeom prst="rect">
            <a:avLst/>
          </a:prstGeom>
          <a:solidFill>
            <a:srgbClr val="17365D"/>
          </a:solidFill>
        </p:spPr>
        <p:txBody>
          <a:bodyPr vert="horz" wrap="square" lIns="0" tIns="206375" rIns="0" bIns="0" rtlCol="0">
            <a:spAutoFit/>
          </a:bodyPr>
          <a:lstStyle>
            <a:lvl1pPr>
              <a:defRPr sz="3600" b="1" i="0">
                <a:solidFill>
                  <a:schemeClr val="bg1"/>
                </a:solidFill>
                <a:latin typeface="Times New Roman"/>
                <a:ea typeface="+mj-ea"/>
                <a:cs typeface="Times New Roman"/>
              </a:defRPr>
            </a:lvl1pPr>
          </a:lstStyle>
          <a:p>
            <a:pPr algn="ctr">
              <a:spcBef>
                <a:spcPts val="1625"/>
              </a:spcBef>
            </a:pPr>
            <a:r>
              <a:rPr lang="en-US" dirty="0">
                <a:latin typeface="Times New Roman" panose="02020603050405020304" pitchFamily="18" charset="0"/>
                <a:cs typeface="Times New Roman" panose="02020603050405020304" pitchFamily="18" charset="0"/>
              </a:rPr>
              <a:t>MODULES - VIII</a:t>
            </a:r>
            <a:br>
              <a:rPr lang="en-US" dirty="0"/>
            </a:br>
            <a:endParaRPr lang="en-US" sz="500" dirty="0"/>
          </a:p>
        </p:txBody>
      </p:sp>
      <p:sp>
        <p:nvSpPr>
          <p:cNvPr id="7" name="TextBox 6">
            <a:extLst>
              <a:ext uri="{FF2B5EF4-FFF2-40B4-BE49-F238E27FC236}">
                <a16:creationId xmlns:a16="http://schemas.microsoft.com/office/drawing/2014/main" id="{25A6B2F0-B010-A45F-4ABF-29BEE8F8A0AF}"/>
              </a:ext>
            </a:extLst>
          </p:cNvPr>
          <p:cNvSpPr txBox="1"/>
          <p:nvPr/>
        </p:nvSpPr>
        <p:spPr>
          <a:xfrm>
            <a:off x="549952" y="1586232"/>
            <a:ext cx="10557103" cy="523220"/>
          </a:xfrm>
          <a:prstGeom prst="rect">
            <a:avLst/>
          </a:prstGeom>
          <a:noFill/>
        </p:spPr>
        <p:txBody>
          <a:bodyPr wrap="square" rtlCol="0">
            <a:spAutoFit/>
          </a:bodyPr>
          <a:lstStyle/>
          <a:p>
            <a:pPr algn="l" rtl="0"/>
            <a:r>
              <a:rPr lang="en-US" sz="2800" b="1" dirty="0">
                <a:latin typeface="Times New Roman" pitchFamily="18" charset="0"/>
                <a:cs typeface="Times New Roman" pitchFamily="18" charset="0"/>
              </a:rPr>
              <a:t>Module 8:Mobile Application Integration </a:t>
            </a:r>
            <a:endParaRPr lang="en-US" altLang="en-US" sz="2800" b="1" dirty="0">
              <a:solidFill>
                <a:schemeClr val="tx1"/>
              </a:solidFill>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D92E4E06-791E-2DDE-0723-97A02E7CF487}"/>
              </a:ext>
            </a:extLst>
          </p:cNvPr>
          <p:cNvSpPr>
            <a:spLocks noChangeArrowheads="1"/>
          </p:cNvSpPr>
          <p:nvPr/>
        </p:nvSpPr>
        <p:spPr bwMode="auto">
          <a:xfrm>
            <a:off x="549953" y="2286000"/>
            <a:ext cx="882264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itchFamily="34" charset="0"/>
              <a:buChar char="•"/>
            </a:pPr>
            <a:r>
              <a:rPr lang="en-US" sz="2400" dirty="0">
                <a:latin typeface="Times New Roman" pitchFamily="18" charset="0"/>
                <a:cs typeface="Times New Roman" pitchFamily="18" charset="0"/>
              </a:rPr>
              <a:t>Wireless connectivity via Bluetooth.</a:t>
            </a:r>
          </a:p>
          <a:p>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Displays recognized gestures as text.</a:t>
            </a:r>
          </a:p>
          <a:p>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Provides audio output through mobile device.</a:t>
            </a:r>
          </a:p>
          <a:p>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Stores communication history.</a:t>
            </a:r>
          </a:p>
          <a:p>
            <a:endParaRPr lang="en-US" sz="2400" dirty="0">
              <a:latin typeface="Times New Roman" pitchFamily="18" charset="0"/>
              <a:cs typeface="Times New Roman" pitchFamily="18" charset="0"/>
            </a:endParaRPr>
          </a:p>
          <a:p>
            <a:pPr marL="342900" indent="-342900">
              <a:buFont typeface="Arial" pitchFamily="34" charset="0"/>
              <a:buChar char="•"/>
            </a:pPr>
            <a:r>
              <a:rPr lang="en-US" sz="2400" dirty="0">
                <a:latin typeface="Times New Roman" pitchFamily="18" charset="0"/>
                <a:cs typeface="Times New Roman" pitchFamily="18" charset="0"/>
              </a:rPr>
              <a:t>Supports multilingual translation and customization.</a:t>
            </a:r>
          </a:p>
        </p:txBody>
      </p:sp>
      <p:sp>
        <p:nvSpPr>
          <p:cNvPr id="9" name="object 9">
            <a:extLst>
              <a:ext uri="{FF2B5EF4-FFF2-40B4-BE49-F238E27FC236}">
                <a16:creationId xmlns:a16="http://schemas.microsoft.com/office/drawing/2014/main" id="{21C52A8F-A4EA-1FF4-08C2-E3BCC7186E6A}"/>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extLst>
      <p:ext uri="{BB962C8B-B14F-4D97-AF65-F5344CB8AC3E}">
        <p14:creationId xmlns:p14="http://schemas.microsoft.com/office/powerpoint/2010/main" val="2626134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E1578-672C-C50A-7F1B-117EC0BF70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F1A0E03-69CE-A298-3C8D-E71CB0AD0426}"/>
              </a:ext>
            </a:extLst>
          </p:cNvPr>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a:extLst>
              <a:ext uri="{FF2B5EF4-FFF2-40B4-BE49-F238E27FC236}">
                <a16:creationId xmlns:a16="http://schemas.microsoft.com/office/drawing/2014/main" id="{0378826E-8E91-57F0-8EA3-F931C86D9B0D}"/>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23</a:t>
            </a:fld>
            <a:endParaRPr spc="-25" dirty="0"/>
          </a:p>
        </p:txBody>
      </p:sp>
      <p:sp>
        <p:nvSpPr>
          <p:cNvPr id="2" name="object 2">
            <a:extLst>
              <a:ext uri="{FF2B5EF4-FFF2-40B4-BE49-F238E27FC236}">
                <a16:creationId xmlns:a16="http://schemas.microsoft.com/office/drawing/2014/main" id="{B90936E1-AE2B-D61B-562E-9E417C940761}"/>
              </a:ext>
            </a:extLst>
          </p:cNvPr>
          <p:cNvSpPr txBox="1">
            <a:spLocks noGrp="1"/>
          </p:cNvSpPr>
          <p:nvPr>
            <p:ph type="title"/>
          </p:nvPr>
        </p:nvSpPr>
        <p:spPr>
          <a:xfrm>
            <a:off x="609600" y="274638"/>
            <a:ext cx="10972800" cy="839332"/>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lang="en-US" dirty="0"/>
              <a:t>IMPLEMENTATION </a:t>
            </a:r>
            <a:br>
              <a:rPr lang="en-US" dirty="0"/>
            </a:br>
            <a:endParaRPr sz="500" dirty="0"/>
          </a:p>
        </p:txBody>
      </p:sp>
      <p:sp>
        <p:nvSpPr>
          <p:cNvPr id="7" name="object 9">
            <a:extLst>
              <a:ext uri="{FF2B5EF4-FFF2-40B4-BE49-F238E27FC236}">
                <a16:creationId xmlns:a16="http://schemas.microsoft.com/office/drawing/2014/main" id="{593733B1-57BE-AF54-28C4-9586E6FD1859}"/>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pic>
        <p:nvPicPr>
          <p:cNvPr id="12" name="Picture 11">
            <a:extLst>
              <a:ext uri="{FF2B5EF4-FFF2-40B4-BE49-F238E27FC236}">
                <a16:creationId xmlns:a16="http://schemas.microsoft.com/office/drawing/2014/main" id="{0D59261C-BE73-675B-473C-09B9936E4ADE}"/>
              </a:ext>
            </a:extLst>
          </p:cNvPr>
          <p:cNvPicPr>
            <a:picLocks noChangeAspect="1"/>
          </p:cNvPicPr>
          <p:nvPr/>
        </p:nvPicPr>
        <p:blipFill>
          <a:blip r:embed="rId2" cstate="print">
            <a:extLst>
              <a:ext uri="{28A0092B-C50C-407E-A947-70E740481C1C}">
                <a14:useLocalDpi xmlns:a14="http://schemas.microsoft.com/office/drawing/2010/main" val="0"/>
              </a:ext>
            </a:extLst>
          </a:blip>
          <a:srcRect t="16244" r="598" b="5555"/>
          <a:stretch>
            <a:fillRect/>
          </a:stretch>
        </p:blipFill>
        <p:spPr>
          <a:xfrm>
            <a:off x="614342" y="1549400"/>
            <a:ext cx="2047762" cy="3581400"/>
          </a:xfrm>
          <a:prstGeom prst="rect">
            <a:avLst/>
          </a:prstGeom>
        </p:spPr>
      </p:pic>
      <p:pic>
        <p:nvPicPr>
          <p:cNvPr id="14" name="Picture 13">
            <a:extLst>
              <a:ext uri="{FF2B5EF4-FFF2-40B4-BE49-F238E27FC236}">
                <a16:creationId xmlns:a16="http://schemas.microsoft.com/office/drawing/2014/main" id="{5C669F59-4CDA-991A-197D-1CA50937D8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0400" y="2133600"/>
            <a:ext cx="3962400" cy="2971800"/>
          </a:xfrm>
          <a:prstGeom prst="rect">
            <a:avLst/>
          </a:prstGeom>
        </p:spPr>
      </p:pic>
      <p:pic>
        <p:nvPicPr>
          <p:cNvPr id="16" name="Picture 15">
            <a:extLst>
              <a:ext uri="{FF2B5EF4-FFF2-40B4-BE49-F238E27FC236}">
                <a16:creationId xmlns:a16="http://schemas.microsoft.com/office/drawing/2014/main" id="{8EDFA833-2544-3EDD-1901-E3664E4987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36759" y="2133600"/>
            <a:ext cx="3962400" cy="2971800"/>
          </a:xfrm>
          <a:prstGeom prst="rect">
            <a:avLst/>
          </a:prstGeom>
        </p:spPr>
      </p:pic>
      <p:sp>
        <p:nvSpPr>
          <p:cNvPr id="18" name="TextBox 17">
            <a:extLst>
              <a:ext uri="{FF2B5EF4-FFF2-40B4-BE49-F238E27FC236}">
                <a16:creationId xmlns:a16="http://schemas.microsoft.com/office/drawing/2014/main" id="{46B161AB-76DC-3571-AE74-CBEB34F1E12C}"/>
              </a:ext>
            </a:extLst>
          </p:cNvPr>
          <p:cNvSpPr txBox="1"/>
          <p:nvPr/>
        </p:nvSpPr>
        <p:spPr>
          <a:xfrm>
            <a:off x="1219200" y="5410200"/>
            <a:ext cx="825867" cy="369332"/>
          </a:xfrm>
          <a:prstGeom prst="rect">
            <a:avLst/>
          </a:prstGeom>
          <a:noFill/>
        </p:spPr>
        <p:txBody>
          <a:bodyPr wrap="none" rtlCol="0">
            <a:spAutoFit/>
          </a:bodyPr>
          <a:lstStyle/>
          <a:p>
            <a:r>
              <a:rPr lang="en-US" b="1" dirty="0"/>
              <a:t>Glove</a:t>
            </a:r>
            <a:endParaRPr lang="en-IN" b="1" dirty="0"/>
          </a:p>
        </p:txBody>
      </p:sp>
      <p:sp>
        <p:nvSpPr>
          <p:cNvPr id="19" name="TextBox 18">
            <a:extLst>
              <a:ext uri="{FF2B5EF4-FFF2-40B4-BE49-F238E27FC236}">
                <a16:creationId xmlns:a16="http://schemas.microsoft.com/office/drawing/2014/main" id="{D440ECC7-A146-3353-C1D7-E0CCE27202C4}"/>
              </a:ext>
            </a:extLst>
          </p:cNvPr>
          <p:cNvSpPr txBox="1"/>
          <p:nvPr/>
        </p:nvSpPr>
        <p:spPr>
          <a:xfrm>
            <a:off x="3429000" y="5301734"/>
            <a:ext cx="3013967" cy="369332"/>
          </a:xfrm>
          <a:prstGeom prst="rect">
            <a:avLst/>
          </a:prstGeom>
          <a:noFill/>
        </p:spPr>
        <p:txBody>
          <a:bodyPr wrap="none" rtlCol="0">
            <a:spAutoFit/>
          </a:bodyPr>
          <a:lstStyle/>
          <a:p>
            <a:r>
              <a:rPr lang="en-US" b="1" dirty="0">
                <a:latin typeface="Time new"/>
              </a:rPr>
              <a:t>Hand Gestures to LCD Display</a:t>
            </a:r>
            <a:endParaRPr lang="en-IN" b="1" dirty="0">
              <a:latin typeface="Time new"/>
            </a:endParaRPr>
          </a:p>
        </p:txBody>
      </p:sp>
      <p:sp>
        <p:nvSpPr>
          <p:cNvPr id="22" name="TextBox 21">
            <a:extLst>
              <a:ext uri="{FF2B5EF4-FFF2-40B4-BE49-F238E27FC236}">
                <a16:creationId xmlns:a16="http://schemas.microsoft.com/office/drawing/2014/main" id="{8B3BBE37-3C91-0464-A5F4-B0F40CEE2B4C}"/>
              </a:ext>
            </a:extLst>
          </p:cNvPr>
          <p:cNvSpPr txBox="1"/>
          <p:nvPr/>
        </p:nvSpPr>
        <p:spPr>
          <a:xfrm>
            <a:off x="8153400" y="5301734"/>
            <a:ext cx="2545890" cy="369332"/>
          </a:xfrm>
          <a:prstGeom prst="rect">
            <a:avLst/>
          </a:prstGeom>
          <a:noFill/>
        </p:spPr>
        <p:txBody>
          <a:bodyPr wrap="none" rtlCol="0">
            <a:spAutoFit/>
          </a:bodyPr>
          <a:lstStyle/>
          <a:p>
            <a:r>
              <a:rPr lang="en-US" b="1" dirty="0">
                <a:latin typeface="Time new"/>
              </a:rPr>
              <a:t>Mobile to Serial Monitor</a:t>
            </a:r>
            <a:endParaRPr lang="en-IN" b="1" dirty="0">
              <a:latin typeface="Time new"/>
            </a:endParaRPr>
          </a:p>
        </p:txBody>
      </p:sp>
    </p:spTree>
    <p:extLst>
      <p:ext uri="{BB962C8B-B14F-4D97-AF65-F5344CB8AC3E}">
        <p14:creationId xmlns:p14="http://schemas.microsoft.com/office/powerpoint/2010/main" val="1092234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E1578-672C-C50A-7F1B-117EC0BF70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F1A0E03-69CE-A298-3C8D-E71CB0AD0426}"/>
              </a:ext>
            </a:extLst>
          </p:cNvPr>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a:extLst>
              <a:ext uri="{FF2B5EF4-FFF2-40B4-BE49-F238E27FC236}">
                <a16:creationId xmlns:a16="http://schemas.microsoft.com/office/drawing/2014/main" id="{0378826E-8E91-57F0-8EA3-F931C86D9B0D}"/>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24</a:t>
            </a:fld>
            <a:endParaRPr spc="-25" dirty="0"/>
          </a:p>
        </p:txBody>
      </p:sp>
      <p:sp>
        <p:nvSpPr>
          <p:cNvPr id="2" name="object 2">
            <a:extLst>
              <a:ext uri="{FF2B5EF4-FFF2-40B4-BE49-F238E27FC236}">
                <a16:creationId xmlns:a16="http://schemas.microsoft.com/office/drawing/2014/main" id="{B90936E1-AE2B-D61B-562E-9E417C940761}"/>
              </a:ext>
            </a:extLst>
          </p:cNvPr>
          <p:cNvSpPr txBox="1">
            <a:spLocks noGrp="1"/>
          </p:cNvSpPr>
          <p:nvPr>
            <p:ph type="title"/>
          </p:nvPr>
        </p:nvSpPr>
        <p:spPr>
          <a:xfrm>
            <a:off x="609600" y="274638"/>
            <a:ext cx="10972800" cy="839332"/>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lang="en-US" dirty="0"/>
              <a:t>IMPLEMENTATION </a:t>
            </a:r>
            <a:br>
              <a:rPr lang="en-US" dirty="0"/>
            </a:br>
            <a:endParaRPr sz="500" dirty="0"/>
          </a:p>
        </p:txBody>
      </p:sp>
      <p:sp>
        <p:nvSpPr>
          <p:cNvPr id="7" name="object 9">
            <a:extLst>
              <a:ext uri="{FF2B5EF4-FFF2-40B4-BE49-F238E27FC236}">
                <a16:creationId xmlns:a16="http://schemas.microsoft.com/office/drawing/2014/main" id="{593733B1-57BE-AF54-28C4-9586E6FD1859}"/>
              </a:ext>
            </a:extLst>
          </p:cNvPr>
          <p:cNvSpPr txBox="1"/>
          <p:nvPr/>
        </p:nvSpPr>
        <p:spPr>
          <a:xfrm>
            <a:off x="682624" y="6428676"/>
            <a:ext cx="765175" cy="197490"/>
          </a:xfrm>
          <a:prstGeom prst="rect">
            <a:avLst/>
          </a:prstGeom>
        </p:spPr>
        <p:txBody>
          <a:bodyPr vert="horz" wrap="square" lIns="0" tIns="12700" rIns="0" bIns="0" rtlCol="0">
            <a:spAutoFit/>
          </a:bodyPr>
          <a:lstStyle/>
          <a:p>
            <a:pPr marL="12700">
              <a:lnSpc>
                <a:spcPct val="100000"/>
              </a:lnSpc>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pic>
        <p:nvPicPr>
          <p:cNvPr id="11" name="Picture 10">
            <a:extLst>
              <a:ext uri="{FF2B5EF4-FFF2-40B4-BE49-F238E27FC236}">
                <a16:creationId xmlns:a16="http://schemas.microsoft.com/office/drawing/2014/main" id="{C2DD6D7F-FF59-C31F-5714-D60B8B8A00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99339" y="1458919"/>
            <a:ext cx="1670203" cy="3711562"/>
          </a:xfrm>
          <a:prstGeom prst="rect">
            <a:avLst/>
          </a:prstGeom>
        </p:spPr>
      </p:pic>
      <p:pic>
        <p:nvPicPr>
          <p:cNvPr id="13" name="Picture 12">
            <a:extLst>
              <a:ext uri="{FF2B5EF4-FFF2-40B4-BE49-F238E27FC236}">
                <a16:creationId xmlns:a16="http://schemas.microsoft.com/office/drawing/2014/main" id="{23862A32-C116-DEA4-4CA4-5451B4CC77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17765" y="1458919"/>
            <a:ext cx="1746753" cy="3711562"/>
          </a:xfrm>
          <a:prstGeom prst="rect">
            <a:avLst/>
          </a:prstGeom>
        </p:spPr>
      </p:pic>
      <p:pic>
        <p:nvPicPr>
          <p:cNvPr id="15" name="Picture 14">
            <a:extLst>
              <a:ext uri="{FF2B5EF4-FFF2-40B4-BE49-F238E27FC236}">
                <a16:creationId xmlns:a16="http://schemas.microsoft.com/office/drawing/2014/main" id="{392A5F73-E903-C729-FB73-4F4D762215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34162" y="1458919"/>
            <a:ext cx="1670203" cy="3711562"/>
          </a:xfrm>
          <a:prstGeom prst="rect">
            <a:avLst/>
          </a:prstGeom>
        </p:spPr>
      </p:pic>
      <p:sp>
        <p:nvSpPr>
          <p:cNvPr id="17" name="TextBox 16">
            <a:extLst>
              <a:ext uri="{FF2B5EF4-FFF2-40B4-BE49-F238E27FC236}">
                <a16:creationId xmlns:a16="http://schemas.microsoft.com/office/drawing/2014/main" id="{DD118CD6-43A9-4A13-E6AB-92CBFA04C385}"/>
              </a:ext>
            </a:extLst>
          </p:cNvPr>
          <p:cNvSpPr txBox="1"/>
          <p:nvPr/>
        </p:nvSpPr>
        <p:spPr>
          <a:xfrm>
            <a:off x="7312679" y="5399081"/>
            <a:ext cx="3278462" cy="646331"/>
          </a:xfrm>
          <a:prstGeom prst="rect">
            <a:avLst/>
          </a:prstGeom>
          <a:noFill/>
        </p:spPr>
        <p:txBody>
          <a:bodyPr wrap="none" rtlCol="0">
            <a:spAutoFit/>
          </a:bodyPr>
          <a:lstStyle/>
          <a:p>
            <a:r>
              <a:rPr lang="en-US" b="1" dirty="0">
                <a:latin typeface="Time new"/>
              </a:rPr>
              <a:t>             USER INTERFACE</a:t>
            </a:r>
          </a:p>
          <a:p>
            <a:r>
              <a:rPr lang="en-US" b="1" dirty="0">
                <a:latin typeface="Time new"/>
              </a:rPr>
              <a:t>(MOBILE APPLICATION DISPLAY)</a:t>
            </a:r>
            <a:endParaRPr lang="en-IN" b="1" dirty="0">
              <a:latin typeface="Time new"/>
            </a:endParaRPr>
          </a:p>
        </p:txBody>
      </p:sp>
      <p:pic>
        <p:nvPicPr>
          <p:cNvPr id="20" name="Picture 19">
            <a:extLst>
              <a:ext uri="{FF2B5EF4-FFF2-40B4-BE49-F238E27FC236}">
                <a16:creationId xmlns:a16="http://schemas.microsoft.com/office/drawing/2014/main" id="{69DDB43C-BE4F-2D85-B056-6AC49E6195D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2624" y="1502401"/>
            <a:ext cx="4604512" cy="3453384"/>
          </a:xfrm>
          <a:prstGeom prst="rect">
            <a:avLst/>
          </a:prstGeom>
        </p:spPr>
      </p:pic>
      <p:sp>
        <p:nvSpPr>
          <p:cNvPr id="21" name="TextBox 20">
            <a:extLst>
              <a:ext uri="{FF2B5EF4-FFF2-40B4-BE49-F238E27FC236}">
                <a16:creationId xmlns:a16="http://schemas.microsoft.com/office/drawing/2014/main" id="{B5D8A844-ADF9-0521-FE6A-9DFE359803CC}"/>
              </a:ext>
            </a:extLst>
          </p:cNvPr>
          <p:cNvSpPr txBox="1"/>
          <p:nvPr/>
        </p:nvSpPr>
        <p:spPr>
          <a:xfrm>
            <a:off x="1981200" y="5399081"/>
            <a:ext cx="2919389" cy="369332"/>
          </a:xfrm>
          <a:prstGeom prst="rect">
            <a:avLst/>
          </a:prstGeom>
          <a:noFill/>
        </p:spPr>
        <p:txBody>
          <a:bodyPr wrap="none" rtlCol="0">
            <a:spAutoFit/>
          </a:bodyPr>
          <a:lstStyle/>
          <a:p>
            <a:r>
              <a:rPr lang="en-US" b="1" dirty="0">
                <a:latin typeface="Time new"/>
              </a:rPr>
              <a:t>Mobile Application to Glove</a:t>
            </a:r>
            <a:endParaRPr lang="en-IN" b="1" dirty="0">
              <a:latin typeface="Time new"/>
            </a:endParaRPr>
          </a:p>
        </p:txBody>
      </p:sp>
    </p:spTree>
    <p:extLst>
      <p:ext uri="{BB962C8B-B14F-4D97-AF65-F5344CB8AC3E}">
        <p14:creationId xmlns:p14="http://schemas.microsoft.com/office/powerpoint/2010/main" val="4202764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 algn="ctr">
              <a:lnSpc>
                <a:spcPts val="1240"/>
              </a:lnSpc>
            </a:pPr>
            <a:r>
              <a:rPr dirty="0"/>
              <a:t>Department</a:t>
            </a:r>
            <a:r>
              <a:rPr spc="-35" dirty="0"/>
              <a:t> </a:t>
            </a:r>
            <a:r>
              <a:rPr dirty="0"/>
              <a:t>of</a:t>
            </a:r>
            <a:r>
              <a:rPr spc="-35" dirty="0"/>
              <a:t> </a:t>
            </a:r>
            <a:r>
              <a:rPr spc="-25" dirty="0"/>
              <a:t>CSE</a:t>
            </a:r>
          </a:p>
          <a:p>
            <a:pPr algn="ctr">
              <a:lnSpc>
                <a:spcPct val="100000"/>
              </a:lnSpc>
            </a:pPr>
            <a:r>
              <a:rPr spc="-10" dirty="0"/>
              <a:t>Jerusalem College </a:t>
            </a:r>
            <a:r>
              <a:rPr dirty="0"/>
              <a:t>of</a:t>
            </a:r>
            <a:r>
              <a:rPr spc="-5" dirty="0"/>
              <a:t> </a:t>
            </a:r>
            <a:r>
              <a:rPr spc="-10" dirty="0"/>
              <a:t>Engineering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25</a:t>
            </a:fld>
            <a:endParaRPr spc="-25" dirty="0"/>
          </a:p>
        </p:txBody>
      </p:sp>
      <p:sp>
        <p:nvSpPr>
          <p:cNvPr id="2" name="object 2"/>
          <p:cNvSpPr txBox="1">
            <a:spLocks noGrp="1"/>
          </p:cNvSpPr>
          <p:nvPr>
            <p:ph type="title"/>
          </p:nvPr>
        </p:nvSpPr>
        <p:spPr>
          <a:xfrm>
            <a:off x="609600" y="274638"/>
            <a:ext cx="10972800" cy="839332"/>
          </a:xfrm>
          <a:prstGeom prst="rect">
            <a:avLst/>
          </a:prstGeom>
          <a:solidFill>
            <a:srgbClr val="17365D"/>
          </a:solidFill>
        </p:spPr>
        <p:txBody>
          <a:bodyPr vert="horz" wrap="square" lIns="0" tIns="206375" rIns="0" bIns="0" rtlCol="0">
            <a:spAutoFit/>
          </a:bodyPr>
          <a:lstStyle/>
          <a:p>
            <a:pPr algn="ctr">
              <a:lnSpc>
                <a:spcPct val="100000"/>
              </a:lnSpc>
              <a:spcBef>
                <a:spcPts val="1625"/>
              </a:spcBef>
            </a:pPr>
            <a:r>
              <a:rPr lang="en-US" dirty="0"/>
              <a:t>FUTURE ENHANCEMENT</a:t>
            </a:r>
            <a:br>
              <a:rPr lang="en-US" dirty="0"/>
            </a:br>
            <a:endParaRPr sz="500" dirty="0"/>
          </a:p>
        </p:txBody>
      </p:sp>
      <p:sp>
        <p:nvSpPr>
          <p:cNvPr id="3" name="Rectangle 1"/>
          <p:cNvSpPr>
            <a:spLocks noChangeArrowheads="1"/>
          </p:cNvSpPr>
          <p:nvPr/>
        </p:nvSpPr>
        <p:spPr bwMode="auto">
          <a:xfrm>
            <a:off x="609600" y="1112224"/>
            <a:ext cx="11353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itchFamily="2" charset="2"/>
              <a:buChar char="Ø"/>
            </a:pPr>
            <a:r>
              <a:rPr lang="en-US" sz="2200" b="1" dirty="0">
                <a:latin typeface="Times New Roman" pitchFamily="18" charset="0"/>
                <a:cs typeface="Times New Roman" pitchFamily="18" charset="0"/>
              </a:rPr>
              <a:t>Advanced Gesture Recognition</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Implement deep learning models (CNN/LSTM) to recognize complex and continuous sign language gestures with higher accuracy.</a:t>
            </a:r>
          </a:p>
          <a:p>
            <a:pPr marL="342900" indent="-342900">
              <a:buFont typeface="Wingdings" pitchFamily="2" charset="2"/>
              <a:buChar char="Ø"/>
            </a:pPr>
            <a:r>
              <a:rPr lang="en-US" sz="2200" b="1" dirty="0">
                <a:latin typeface="Times New Roman" pitchFamily="18" charset="0"/>
                <a:cs typeface="Times New Roman" pitchFamily="18" charset="0"/>
              </a:rPr>
              <a:t>Multilingual Support</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Extend the system to support multiple spoken and sign languages for wider accessibility across regions.</a:t>
            </a:r>
            <a:br>
              <a:rPr lang="en-US" sz="2000" dirty="0">
                <a:latin typeface="Times New Roman" pitchFamily="18" charset="0"/>
                <a:cs typeface="Times New Roman" pitchFamily="18" charset="0"/>
              </a:rPr>
            </a:br>
            <a:r>
              <a:rPr lang="en-US" sz="2200" b="1" dirty="0">
                <a:latin typeface="Times New Roman" pitchFamily="18" charset="0"/>
                <a:cs typeface="Times New Roman" pitchFamily="18" charset="0"/>
              </a:rPr>
              <a:t>Miniaturization &amp; Wearable Design</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Reduce hardware size and improve glove ergonomics for comfort, durability, and daily use.</a:t>
            </a:r>
          </a:p>
          <a:p>
            <a:pPr marL="342900" indent="-342900">
              <a:buFont typeface="Wingdings" pitchFamily="2" charset="2"/>
              <a:buChar char="Ø"/>
            </a:pPr>
            <a:r>
              <a:rPr lang="en-US" sz="2200" b="1" dirty="0">
                <a:latin typeface="Times New Roman" pitchFamily="18" charset="0"/>
                <a:cs typeface="Times New Roman" pitchFamily="18" charset="0"/>
              </a:rPr>
              <a:t>Smart Home &amp; </a:t>
            </a:r>
            <a:r>
              <a:rPr lang="en-US" sz="2200" b="1" dirty="0" err="1">
                <a:latin typeface="Times New Roman" pitchFamily="18" charset="0"/>
                <a:cs typeface="Times New Roman" pitchFamily="18" charset="0"/>
              </a:rPr>
              <a:t>IoT</a:t>
            </a:r>
            <a:r>
              <a:rPr lang="en-US" sz="2200" b="1" dirty="0">
                <a:latin typeface="Times New Roman" pitchFamily="18" charset="0"/>
                <a:cs typeface="Times New Roman" pitchFamily="18" charset="0"/>
              </a:rPr>
              <a:t> Integration</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Integrate the glove with smart home devices to enable gesture-based control of lights, appliances, and assistants.</a:t>
            </a:r>
          </a:p>
          <a:p>
            <a:pPr marL="342900" indent="-342900">
              <a:buFont typeface="Wingdings" pitchFamily="2" charset="2"/>
              <a:buChar char="Ø"/>
            </a:pPr>
            <a:r>
              <a:rPr lang="en-US" sz="2200" b="1" dirty="0">
                <a:latin typeface="Times New Roman" pitchFamily="18" charset="0"/>
                <a:cs typeface="Times New Roman" pitchFamily="18" charset="0"/>
              </a:rPr>
              <a:t>Battery Optimization</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Improve power management for longer battery life and faster charging.</a:t>
            </a:r>
          </a:p>
          <a:p>
            <a:pPr marL="342900" indent="-342900">
              <a:buFont typeface="Wingdings" pitchFamily="2" charset="2"/>
              <a:buChar char="Ø"/>
            </a:pPr>
            <a:r>
              <a:rPr lang="en-US" sz="2200" b="1" dirty="0">
                <a:latin typeface="Times New Roman" pitchFamily="18" charset="0"/>
                <a:cs typeface="Times New Roman" pitchFamily="18" charset="0"/>
              </a:rPr>
              <a:t>Bidirectional Communication</a:t>
            </a:r>
            <a:br>
              <a:rPr lang="en-US" sz="2200" dirty="0">
                <a:latin typeface="Times New Roman" pitchFamily="18" charset="0"/>
                <a:cs typeface="Times New Roman" pitchFamily="18" charset="0"/>
              </a:rPr>
            </a:br>
            <a:r>
              <a:rPr lang="en-US" sz="2000" dirty="0">
                <a:latin typeface="Times New Roman" pitchFamily="18" charset="0"/>
                <a:cs typeface="Times New Roman" pitchFamily="18" charset="0"/>
              </a:rPr>
              <a:t>	Enhance the system to support complete two-way communication by improving speech-to-text accuracy and real-time feedback for the glove user.</a:t>
            </a:r>
          </a:p>
          <a:p>
            <a:pPr marL="342900" indent="-342900">
              <a:buFont typeface="Wingdings" pitchFamily="2" charset="2"/>
              <a:buChar char="Ø"/>
            </a:pPr>
            <a:endParaRPr lang="en-US" sz="2000" dirty="0">
              <a:latin typeface="Times New Roman" pitchFamily="18" charset="0"/>
              <a:cs typeface="Times New Roman" pitchFamily="18" charset="0"/>
            </a:endParaRPr>
          </a:p>
        </p:txBody>
      </p:sp>
      <p:sp>
        <p:nvSpPr>
          <p:cNvPr id="7" name="object 9">
            <a:extLst>
              <a:ext uri="{FF2B5EF4-FFF2-40B4-BE49-F238E27FC236}">
                <a16:creationId xmlns:a16="http://schemas.microsoft.com/office/drawing/2014/main" id="{1BD76F5B-A404-B0B1-17FC-D0BF3904C982}"/>
              </a:ext>
            </a:extLst>
          </p:cNvPr>
          <p:cNvSpPr txBox="1"/>
          <p:nvPr/>
        </p:nvSpPr>
        <p:spPr>
          <a:xfrm>
            <a:off x="682624" y="6428676"/>
            <a:ext cx="765175" cy="197490"/>
          </a:xfrm>
          <a:prstGeom prst="rect">
            <a:avLst/>
          </a:prstGeom>
        </p:spPr>
        <p:txBody>
          <a:bodyPr vert="horz" wrap="square" lIns="0" tIns="12700" rIns="0" bIns="0" rtlCol="0">
            <a:spAutoFit/>
          </a:bodyPr>
          <a:lstStyle/>
          <a:p>
            <a:pPr marL="12700">
              <a:spcBef>
                <a:spcPts val="100"/>
              </a:spcBef>
            </a:pPr>
            <a:r>
              <a:rPr lang="en-IN" sz="1200" spc="-20" dirty="0">
                <a:solidFill>
                  <a:srgbClr val="888888"/>
                </a:solidFill>
                <a:latin typeface="Calibri"/>
                <a:cs typeface="Calibri"/>
              </a:rPr>
              <a:t>03-Mar-25</a:t>
            </a:r>
            <a:endParaRPr lang="en-IN" sz="1200" dirty="0">
              <a:latin typeface="Calibri"/>
              <a:cs typeface="Calibri"/>
            </a:endParaRPr>
          </a:p>
        </p:txBody>
      </p:sp>
    </p:spTree>
    <p:extLst>
      <p:ext uri="{BB962C8B-B14F-4D97-AF65-F5344CB8AC3E}">
        <p14:creationId xmlns:p14="http://schemas.microsoft.com/office/powerpoint/2010/main" val="3938324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5062897" y="6375336"/>
            <a:ext cx="2063750" cy="156068"/>
          </a:xfrm>
          <a:prstGeom prst="rect">
            <a:avLst/>
          </a:prstGeom>
        </p:spPr>
        <p:txBody>
          <a:bodyPr vert="horz" wrap="square" lIns="0" tIns="0" rIns="0" bIns="0" rtlCol="0">
            <a:spAutoFit/>
          </a:bodyPr>
          <a:lstStyle/>
          <a:p>
            <a:pPr marL="1270" algn="ctr">
              <a:lnSpc>
                <a:spcPts val="1240"/>
              </a:lnSpc>
            </a:pPr>
            <a:endParaRPr spc="-10" dirty="0"/>
          </a:p>
        </p:txBody>
      </p:sp>
      <p:sp>
        <p:nvSpPr>
          <p:cNvPr id="6" name="object 6"/>
          <p:cNvSpPr txBox="1">
            <a:spLocks noGrp="1"/>
          </p:cNvSpPr>
          <p:nvPr>
            <p:ph type="sldNum" sz="quarter" idx="7"/>
          </p:nvPr>
        </p:nvSpPr>
        <p:spPr>
          <a:xfrm>
            <a:off x="11277600" y="6466776"/>
            <a:ext cx="270103" cy="156068"/>
          </a:xfrm>
          <a:prstGeom prst="rect">
            <a:avLst/>
          </a:prstGeom>
        </p:spPr>
        <p:txBody>
          <a:bodyPr vert="horz" wrap="square" lIns="0" tIns="0" rIns="0" bIns="0" rtlCol="0">
            <a:spAutoFit/>
          </a:bodyPr>
          <a:lstStyle/>
          <a:p>
            <a:pPr marL="38100">
              <a:lnSpc>
                <a:spcPts val="1240"/>
              </a:lnSpc>
            </a:pPr>
            <a:endParaRPr spc="-50" dirty="0"/>
          </a:p>
        </p:txBody>
      </p:sp>
      <p:sp>
        <p:nvSpPr>
          <p:cNvPr id="2" name="object 2"/>
          <p:cNvSpPr txBox="1">
            <a:spLocks noGrp="1"/>
          </p:cNvSpPr>
          <p:nvPr>
            <p:ph type="title"/>
          </p:nvPr>
        </p:nvSpPr>
        <p:spPr>
          <a:xfrm>
            <a:off x="608372" y="231834"/>
            <a:ext cx="10972800" cy="820096"/>
          </a:xfrm>
          <a:prstGeom prst="rect">
            <a:avLst/>
          </a:prstGeom>
          <a:solidFill>
            <a:srgbClr val="17365D"/>
          </a:solidFill>
        </p:spPr>
        <p:txBody>
          <a:bodyPr vert="horz" wrap="square" lIns="0" tIns="141605" rIns="0" bIns="0" rtlCol="0">
            <a:spAutoFit/>
          </a:bodyPr>
          <a:lstStyle/>
          <a:p>
            <a:pPr algn="ctr">
              <a:lnSpc>
                <a:spcPct val="100000"/>
              </a:lnSpc>
              <a:spcBef>
                <a:spcPts val="1115"/>
              </a:spcBef>
            </a:pPr>
            <a:r>
              <a:rPr spc="-10" dirty="0"/>
              <a:t>R</a:t>
            </a:r>
            <a:r>
              <a:rPr lang="en-US" spc="-10" dirty="0"/>
              <a:t>EFERENCES</a:t>
            </a:r>
            <a:br>
              <a:rPr lang="en-US" spc="-10" dirty="0"/>
            </a:br>
            <a:endParaRPr sz="800" spc="-10" dirty="0"/>
          </a:p>
        </p:txBody>
      </p:sp>
      <p:sp>
        <p:nvSpPr>
          <p:cNvPr id="5" name="Rectangle 4"/>
          <p:cNvSpPr/>
          <p:nvPr/>
        </p:nvSpPr>
        <p:spPr>
          <a:xfrm>
            <a:off x="540020" y="1318257"/>
            <a:ext cx="11022923" cy="5146665"/>
          </a:xfrm>
          <a:prstGeom prst="rect">
            <a:avLst/>
          </a:prstGeom>
        </p:spPr>
        <p:txBody>
          <a:bodyPr wrap="square">
            <a:spAutoFit/>
          </a:bodyPr>
          <a:lstStyle/>
          <a:p>
            <a:pPr algn="just" rtl="0" eaLnBrk="0" fontAlgn="base" hangingPunct="0">
              <a:lnSpc>
                <a:spcPct val="150000"/>
              </a:lnSpc>
              <a:spcBef>
                <a:spcPct val="0"/>
              </a:spcBef>
              <a:spcAft>
                <a:spcPct val="0"/>
              </a:spcAft>
            </a:pP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[1]Al-</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Dhief</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 T., Abdul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Latiff</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 M.,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Abd</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Malik, N. N. N.,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Salim</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 S.,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Baki</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 M.,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Albadr</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 A. A., &amp; Mohammed, M. A. A Survey of Voice Pathology Surveillance Systems Based on Internet of Things and Machine Learning Algorithms(2020).</a:t>
            </a:r>
          </a:p>
          <a:p>
            <a:pPr marR="0" lvl="0" algn="just" defTabSz="914400" rtl="0" eaLnBrk="0" fontAlgn="base" latinLnBrk="0" hangingPunct="0">
              <a:lnSpc>
                <a:spcPct val="150000"/>
              </a:lnSpc>
              <a:spcBef>
                <a:spcPct val="0"/>
              </a:spcBef>
              <a:spcAft>
                <a:spcPct val="0"/>
              </a:spcAft>
              <a:buClrTx/>
              <a:buSzTx/>
              <a:tabLst/>
            </a:pP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Friston</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 Griffith, E.,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Swapp</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 Marshall, A., &amp; Steed, A.  Position-Based Control of Under-Constrained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Haptics</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System for the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Dexmo</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Glove.(2019).</a:t>
            </a:r>
          </a:p>
          <a:p>
            <a:pPr algn="just" rtl="0" eaLnBrk="0" fontAlgn="base" hangingPunct="0">
              <a:lnSpc>
                <a:spcPct val="150000"/>
              </a:lnSpc>
              <a:spcBef>
                <a:spcPct val="0"/>
              </a:spcBef>
              <a:spcAft>
                <a:spcPct val="0"/>
              </a:spcAft>
            </a:pP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Hashi</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O.,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Hashim</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 Z. M., &amp;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Asamah</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B. A Systematic Review of Hand Gesture Recognition: An Update From </a:t>
            </a:r>
            <a:r>
              <a:rPr lang="en-US" altLang="en-US" sz="1700" dirty="0">
                <a:solidFill>
                  <a:schemeClr val="tx1"/>
                </a:solidFill>
                <a:latin typeface="Times New Roman" panose="02020603050405020304" pitchFamily="18" charset="0"/>
                <a:cs typeface="Times New Roman" panose="02020603050405020304" pitchFamily="18" charset="0"/>
              </a:rPr>
              <a:t>(</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2024).</a:t>
            </a:r>
          </a:p>
          <a:p>
            <a:pPr marR="0" lvl="0" algn="just" defTabSz="914400" rtl="0" eaLnBrk="0" fontAlgn="base" latinLnBrk="0" hangingPunct="0">
              <a:lnSpc>
                <a:spcPct val="150000"/>
              </a:lnSpc>
              <a:spcBef>
                <a:spcPct val="0"/>
              </a:spcBef>
              <a:spcAft>
                <a:spcPct val="0"/>
              </a:spcAft>
              <a:buClrTx/>
              <a:buSzTx/>
              <a:tabLst/>
            </a:pP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[4]Singh, M.,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Bharti</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Kaur</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Arora</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Saini</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Kaur</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 &amp; Singh, J.  A Facial and Vocal Expression-Based Comprehensive Framework for Real-Time Student Stress Monitoring in an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IoT</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-Fog-Cloud Environment(2022).</a:t>
            </a:r>
          </a:p>
          <a:p>
            <a:pPr marR="0" lvl="0" algn="just" defTabSz="914400" rtl="0" eaLnBrk="0" fontAlgn="base" latinLnBrk="0" hangingPunct="0">
              <a:lnSpc>
                <a:spcPct val="150000"/>
              </a:lnSpc>
              <a:spcBef>
                <a:spcPct val="0"/>
              </a:spcBef>
              <a:spcAft>
                <a:spcPct val="0"/>
              </a:spcAft>
              <a:buClrTx/>
              <a:buSzTx/>
              <a:tabLst/>
            </a:pP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Ullah</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Ishaq</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Azeem</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 Ashraf, H.,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Jhanjhi</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 Z.,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Humayun</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Tabbakh</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 A., &amp;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Almusaylim</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Z. A. (2021). A Survey on Continuous Object Tracking and Boundary Detection Schemes in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IoT</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Assisted Wireless Sensor Networks.</a:t>
            </a:r>
          </a:p>
          <a:p>
            <a:pPr marR="0" lvl="0" algn="just" defTabSz="914400" rtl="0" eaLnBrk="0" fontAlgn="base" latinLnBrk="0" hangingPunct="0">
              <a:lnSpc>
                <a:spcPct val="150000"/>
              </a:lnSpc>
              <a:spcBef>
                <a:spcPct val="0"/>
              </a:spcBef>
              <a:spcAft>
                <a:spcPct val="0"/>
              </a:spcAft>
              <a:buClrTx/>
              <a:buSzTx/>
              <a:tabLst/>
            </a:pP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Zeshan</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 Ahmad, A., Babar, M. I., Hamid, M.,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Hajjej</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 &amp; Ashraf, M. An </a:t>
            </a:r>
            <a:r>
              <a:rPr kumimoji="0" lang="en-US" altLang="en-US" sz="17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IoT</a:t>
            </a:r>
            <a:r>
              <a:rPr kumimoji="0" lang="en-US" altLang="en-US" sz="17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-Enabled Ontology-Based Intelligent Healthcare Framework for Remote Patient Monitoring(2023).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72B03AF-3169-50C2-B2CE-98B3754269E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17E43FC-EAF3-8B87-0648-E62B49BA4C6C}"/>
              </a:ext>
            </a:extLst>
          </p:cNvPr>
          <p:cNvSpPr txBox="1"/>
          <p:nvPr/>
        </p:nvSpPr>
        <p:spPr>
          <a:xfrm>
            <a:off x="1522772" y="2514600"/>
            <a:ext cx="9144000" cy="1569660"/>
          </a:xfrm>
          <a:prstGeom prst="rect">
            <a:avLst/>
          </a:prstGeom>
          <a:noFill/>
        </p:spPr>
        <p:txBody>
          <a:bodyPr wrap="square" rtlCol="0">
            <a:spAutoFit/>
          </a:bodyPr>
          <a:lstStyle/>
          <a:p>
            <a:pPr algn="ctr"/>
            <a:r>
              <a:rPr lang="en-IN" sz="9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789886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3353</TotalTime>
  <Words>2797</Words>
  <Application>Microsoft Office PowerPoint</Application>
  <PresentationFormat>Widescreen</PresentationFormat>
  <Paragraphs>333</Paragraphs>
  <Slides>27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Time new</vt:lpstr>
      <vt:lpstr>Times New Roman</vt:lpstr>
      <vt:lpstr>Wingdings</vt:lpstr>
      <vt:lpstr>Office Theme</vt:lpstr>
      <vt:lpstr>PowerPoint Presentation</vt:lpstr>
      <vt:lpstr>OBJECTIVE</vt:lpstr>
      <vt:lpstr>PROJECT DOMAIN</vt:lpstr>
      <vt:lpstr>EXISTING SYSTEM</vt:lpstr>
      <vt:lpstr>LITERATURE SURVEY</vt:lpstr>
      <vt:lpstr>LITERATURE SURVEY</vt:lpstr>
      <vt:lpstr>LITERATURE SURVEY</vt:lpstr>
      <vt:lpstr>PROPOSED SYSTEM</vt:lpstr>
      <vt:lpstr>SCOPE</vt:lpstr>
      <vt:lpstr>HARDWARE AND SOFTWARE REQUIREMENTS</vt:lpstr>
      <vt:lpstr>PowerPoint Presentation</vt:lpstr>
      <vt:lpstr>PROJECT MODULES</vt:lpstr>
      <vt:lpstr>MODULES DESCRIPTION </vt:lpstr>
      <vt:lpstr>MODULES DESCRIPTION </vt:lpstr>
      <vt:lpstr>MODULE - I </vt:lpstr>
      <vt:lpstr>MODULE - II </vt:lpstr>
      <vt:lpstr>MODULE - III </vt:lpstr>
      <vt:lpstr>MODULES - IV </vt:lpstr>
      <vt:lpstr>MODULES - V </vt:lpstr>
      <vt:lpstr>MODULES - VI </vt:lpstr>
      <vt:lpstr>MODULES - VII </vt:lpstr>
      <vt:lpstr>PowerPoint Presentation</vt:lpstr>
      <vt:lpstr>IMPLEMENTATION  </vt:lpstr>
      <vt:lpstr>IMPLEMENTATION  </vt:lpstr>
      <vt:lpstr>FUTURE ENHANCEMENT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udhaya kumar</dc:creator>
  <cp:lastModifiedBy>S0522934</cp:lastModifiedBy>
  <cp:revision>76</cp:revision>
  <dcterms:created xsi:type="dcterms:W3CDTF">2025-07-22T05:46:59Z</dcterms:created>
  <dcterms:modified xsi:type="dcterms:W3CDTF">2026-07-12T17:01:44Z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2025-07-22T00:00:00Z</vt:filetime>
  </property>
  <property fmtid="{D5CDD505-2E9C-101B-9397-08002B2CF9AE}" pid="3" name="Creator">
    <vt:lpwstr>Google</vt:lpwstr>
  </property>
  <property fmtid="{D5CDD505-2E9C-101B-9397-08002B2CF9AE}" pid="4" name="LastSaved">
    <vt:filetime>2025-07-22T00:00:00Z</vt:filetime>
  </property>
</Properties>
</file>